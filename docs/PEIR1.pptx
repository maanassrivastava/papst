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9" r:id="rId16"/>
    <p:sldId id="288" r:id="rId17"/>
    <p:sldId id="290" r:id="rId18"/>
    <p:sldId id="291" r:id="rId19"/>
    <p:sldId id="292" r:id="rId20"/>
    <p:sldId id="293" r:id="rId21"/>
    <p:sldId id="294" r:id="rId22"/>
    <p:sldId id="295" r:id="rId23"/>
    <p:sldId id="297" r:id="rId24"/>
    <p:sldId id="296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299C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BA1C99-0526-4AC2-A3B2-F4D71E4187C7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134D63-FDA5-4886-9731-7A6590E84A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1253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944F7-CEC8-4E96-816D-982173E964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E77D8C-D423-D96D-74F2-D4D16940E2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2EC91-9C10-C287-D65A-2A0E036B3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01D5D-6E25-4E4F-A3C9-C95F7AA0C3A6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61E62-73BA-3A84-EFBA-045DB0EDA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F628B2-8D43-0F92-939F-E5F2D2076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0867C-4958-46A9-AEE4-CCC72E5873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7465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59452-987B-AB74-95C4-8D704784A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34DD7-F47D-6A3A-BF51-F5945127C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DC30A-69D2-8EE8-BCC9-05A81555C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01D5D-6E25-4E4F-A3C9-C95F7AA0C3A6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8B2C81-37C2-9529-C25A-87DDCC47F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C493A8-F417-EE69-4F3C-08D99E675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0867C-4958-46A9-AEE4-CCC72E5873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3983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0AD7-4FF9-61EC-C0D2-51EA841FF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600690-8F7E-D80C-3362-207BEC8E02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3E1BD-70B5-B092-31E5-1C58993C9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01D5D-6E25-4E4F-A3C9-C95F7AA0C3A6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B9888-195F-F58B-1E92-6300B30D4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C069E-E936-6299-2AF8-F37B6E7C7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0867C-4958-46A9-AEE4-CCC72E5873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9920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CBCBA-5C93-111F-EEAE-89219F6D2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BA771-1AAD-6521-E7E9-1945C01B77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188A8-2B9C-50C7-554B-85A9BE5DB8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D77C8B-3A4D-302B-015F-FE474DE3B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01D5D-6E25-4E4F-A3C9-C95F7AA0C3A6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9571B8-4F11-9961-CC0D-6080BE45F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2A035E-DECE-D7EA-7547-91D8423DE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0867C-4958-46A9-AEE4-CCC72E5873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7200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04ED0-4BFC-6240-5A83-88AF2123D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DCB3E2-1BF7-11F5-ABB4-7491FAABD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F9A4D1-9945-90F2-7F3F-7D1ED13FE0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C82D64-CE22-901B-D67C-81684C18A3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9B8895-BF0A-486B-445E-56D9478E57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0C1378-F45C-570B-D0C3-961C0DC28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01D5D-6E25-4E4F-A3C9-C95F7AA0C3A6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15E77B-8F9B-D51D-9651-C4EC585B3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3FF9E5-44FF-F53B-C0CB-7E33A1E07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0867C-4958-46A9-AEE4-CCC72E5873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1966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63189-BF90-1634-766C-D17C4106E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EB39BB-65B7-599F-A7B1-768DD6CA2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01D5D-6E25-4E4F-A3C9-C95F7AA0C3A6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309DEE-2FF1-4336-E1DB-388EDB23B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AABC99-E55F-9100-50B9-DC4962E30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0867C-4958-46A9-AEE4-CCC72E5873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2270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05D3D8-7251-1BFB-FA8E-7682DAF80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01D5D-6E25-4E4F-A3C9-C95F7AA0C3A6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4FBC8E-A8FB-31D4-21AF-57DE9001D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E1E220-C766-957F-A833-DA8CC5D57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0867C-4958-46A9-AEE4-CCC72E5873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7015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AD1FE-A4CD-FF6F-50F1-049045573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CBA19-FEE0-4475-F776-48E237ACD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4A3981-E920-772D-3869-AD8AC5374A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DE617A-DCE2-C167-96C8-6B9BEFEAF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01D5D-6E25-4E4F-A3C9-C95F7AA0C3A6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A32295-88F9-663D-941A-00DB3EF0F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BBD206-7853-8B39-0A1A-9A05C3E5D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0867C-4958-46A9-AEE4-CCC72E5873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1436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B6D20-4F6F-79E2-31B1-CA7D47EDB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22B075-069D-7F7F-EC87-0EE0DAA474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7F6D13-E96D-17C1-E60A-EEA4B1D760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7AEEA9-9887-7BE2-07A1-51377E8B6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01D5D-6E25-4E4F-A3C9-C95F7AA0C3A6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D24BA4-60F2-3631-3E03-E5EA0674F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2C0175-2838-4275-B877-77A5E187B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0867C-4958-46A9-AEE4-CCC72E5873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4725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53724-026D-3FB2-8C06-7CEEA087F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E97F2A-C600-448C-A72B-44B235CA84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EA244-F80A-524B-A035-D2FA3B678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01D5D-6E25-4E4F-A3C9-C95F7AA0C3A6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750AE-9B8D-4AF1-7C91-E5EA03263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A4C1D-1CF8-1BC1-4153-0D256F0B4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0867C-4958-46A9-AEE4-CCC72E5873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7788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73B957-7D38-B898-434A-7956757341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2D7775-E3B8-DE32-C7D0-140BEE2F40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0FE2F3-6C06-C07A-90BC-9C5448504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01D5D-6E25-4E4F-A3C9-C95F7AA0C3A6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8A725-FAF3-BBD5-24FE-16B318BC9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48E13-951A-74CC-9FD7-EC537289F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0867C-4958-46A9-AEE4-CCC72E5873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90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BFA9DD-2525-0BB0-9D23-99AA0015E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758B27-1347-B472-711F-5735D5D5C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691C4-89C9-DB42-AE5C-9295694377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C01D5D-6E25-4E4F-A3C9-C95F7AA0C3A6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94C92-333B-3F9D-17FA-86CFB190DE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5EAED-9B65-2199-63F8-B4C827147E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B0867C-4958-46A9-AEE4-CCC72E587334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B268FC-2E09-77FE-86B6-18FA22E5DD99}"/>
              </a:ext>
            </a:extLst>
          </p:cNvPr>
          <p:cNvSpPr txBox="1"/>
          <p:nvPr userDrawn="1"/>
        </p:nvSpPr>
        <p:spPr>
          <a:xfrm>
            <a:off x="0" y="6538912"/>
            <a:ext cx="12192000" cy="338554"/>
          </a:xfrm>
          <a:prstGeom prst="rect">
            <a:avLst/>
          </a:prstGeom>
          <a:solidFill>
            <a:srgbClr val="0F299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chemeClr val="bg1"/>
                </a:solidFill>
              </a:rPr>
              <a:t>Team Number 53</a:t>
            </a:r>
          </a:p>
        </p:txBody>
      </p:sp>
    </p:spTree>
    <p:extLst>
      <p:ext uri="{BB962C8B-B14F-4D97-AF65-F5344CB8AC3E}">
        <p14:creationId xmlns:p14="http://schemas.microsoft.com/office/powerpoint/2010/main" val="3176502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aanassrivastava/PAPST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4260FF-AEA6-D16C-406B-B6CB5E3FF830}"/>
              </a:ext>
            </a:extLst>
          </p:cNvPr>
          <p:cNvSpPr txBox="1"/>
          <p:nvPr/>
        </p:nvSpPr>
        <p:spPr>
          <a:xfrm>
            <a:off x="1488830" y="2467896"/>
            <a:ext cx="9041518" cy="707886"/>
          </a:xfrm>
          <a:prstGeom prst="rect">
            <a:avLst/>
          </a:prstGeom>
          <a:solidFill>
            <a:srgbClr val="0F299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solidFill>
                  <a:schemeClr val="bg1"/>
                </a:solidFill>
              </a:rPr>
              <a:t>DSN2098: Project Exhibition – 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A58235-702D-1E4B-4350-0426C81DE0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8717" y="428189"/>
            <a:ext cx="4190670" cy="20397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9AC3F90-B762-75AA-2951-DCD0828D7294}"/>
              </a:ext>
            </a:extLst>
          </p:cNvPr>
          <p:cNvSpPr txBox="1"/>
          <p:nvPr/>
        </p:nvSpPr>
        <p:spPr>
          <a:xfrm>
            <a:off x="3449089" y="3524864"/>
            <a:ext cx="529382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Review I, Presentation by:</a:t>
            </a:r>
          </a:p>
          <a:p>
            <a:r>
              <a:rPr lang="en-IN" sz="2400" dirty="0">
                <a:solidFill>
                  <a:srgbClr val="0F299C"/>
                </a:solidFill>
              </a:rPr>
              <a:t>25BCE10735 - Maanas Srivastava</a:t>
            </a:r>
          </a:p>
          <a:p>
            <a:r>
              <a:rPr lang="en-IN" sz="2400" dirty="0">
                <a:solidFill>
                  <a:srgbClr val="0F299C"/>
                </a:solidFill>
              </a:rPr>
              <a:t>25BCE10372 – Harsh Mangal</a:t>
            </a:r>
          </a:p>
          <a:p>
            <a:r>
              <a:rPr lang="en-IN" sz="2400" dirty="0">
                <a:solidFill>
                  <a:srgbClr val="0F299C"/>
                </a:solidFill>
              </a:rPr>
              <a:t>25BCE10743 – Sagar Sharma</a:t>
            </a:r>
          </a:p>
          <a:p>
            <a:r>
              <a:rPr lang="en-IN" sz="2400" dirty="0">
                <a:solidFill>
                  <a:srgbClr val="0F299C"/>
                </a:solidFill>
              </a:rPr>
              <a:t>25BCE11285 – Surya Pratap Singh Bais</a:t>
            </a:r>
          </a:p>
          <a:p>
            <a:r>
              <a:rPr lang="en-IN" sz="2400" dirty="0">
                <a:solidFill>
                  <a:srgbClr val="0F299C"/>
                </a:solidFill>
              </a:rPr>
              <a:t>25BCE11407 – Daksh Jain</a:t>
            </a:r>
          </a:p>
        </p:txBody>
      </p:sp>
    </p:spTree>
    <p:extLst>
      <p:ext uri="{BB962C8B-B14F-4D97-AF65-F5344CB8AC3E}">
        <p14:creationId xmlns:p14="http://schemas.microsoft.com/office/powerpoint/2010/main" val="504162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08"/>
    </mc:Choice>
    <mc:Fallback xmlns="">
      <p:transition spd="slow" advTm="1300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887A4-6AA9-F732-245F-3A4EB1899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942" y="276636"/>
            <a:ext cx="11130115" cy="519778"/>
          </a:xfrm>
          <a:solidFill>
            <a:srgbClr val="0F299C"/>
          </a:solidFill>
        </p:spPr>
        <p:txBody>
          <a:bodyPr>
            <a:normAutofit/>
          </a:bodyPr>
          <a:lstStyle/>
          <a:p>
            <a:pPr algn="ctr"/>
            <a:r>
              <a:rPr lang="en-IN" sz="2400" dirty="0">
                <a:solidFill>
                  <a:schemeClr val="bg1"/>
                </a:solidFill>
              </a:rPr>
              <a:t>Project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859A4-4CE3-8587-CCA0-02C238A0B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189" y="1237016"/>
            <a:ext cx="10515600" cy="395134"/>
          </a:xfrm>
          <a:noFill/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IN" sz="2400" dirty="0">
                <a:solidFill>
                  <a:schemeClr val="bg1"/>
                </a:solidFill>
                <a:highlight>
                  <a:srgbClr val="000000"/>
                </a:highlight>
              </a:rPr>
              <a:t>PAPST - Particle Analysis Physics Simulation Tool</a:t>
            </a:r>
            <a:r>
              <a:rPr lang="en-IN" sz="2400" dirty="0">
                <a:highlight>
                  <a:srgbClr val="000000"/>
                </a:highlight>
              </a:rPr>
              <a:t>)      </a:t>
            </a:r>
          </a:p>
          <a:p>
            <a:pPr marL="0" indent="0">
              <a:buNone/>
            </a:pPr>
            <a:endParaRPr lang="en-IN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A77046-E660-D08E-D12B-8E8A43D76149}"/>
              </a:ext>
            </a:extLst>
          </p:cNvPr>
          <p:cNvSpPr/>
          <p:nvPr/>
        </p:nvSpPr>
        <p:spPr>
          <a:xfrm>
            <a:off x="530942" y="2072754"/>
            <a:ext cx="2648565" cy="3272697"/>
          </a:xfrm>
          <a:prstGeom prst="rect">
            <a:avLst/>
          </a:prstGeom>
          <a:solidFill>
            <a:srgbClr val="0F299C">
              <a:alpha val="20000"/>
            </a:srgbClr>
          </a:solidFill>
          <a:ln>
            <a:solidFill>
              <a:srgbClr val="0F29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CC5E2B-6475-9ED4-5D78-F2B0730BA6D7}"/>
              </a:ext>
            </a:extLst>
          </p:cNvPr>
          <p:cNvSpPr txBox="1"/>
          <p:nvPr/>
        </p:nvSpPr>
        <p:spPr>
          <a:xfrm>
            <a:off x="727447" y="2326550"/>
            <a:ext cx="22555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solidFill>
                  <a:srgbClr val="0F299C"/>
                </a:solidFill>
              </a:rPr>
              <a:t>Physics Calculator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DCA507-99C6-D9E9-8E81-759C5AC986E4}"/>
              </a:ext>
            </a:extLst>
          </p:cNvPr>
          <p:cNvSpPr/>
          <p:nvPr/>
        </p:nvSpPr>
        <p:spPr>
          <a:xfrm>
            <a:off x="4771718" y="2072752"/>
            <a:ext cx="2648565" cy="3272697"/>
          </a:xfrm>
          <a:prstGeom prst="rect">
            <a:avLst/>
          </a:prstGeom>
          <a:solidFill>
            <a:srgbClr val="0F299C">
              <a:alpha val="20000"/>
            </a:srgbClr>
          </a:solidFill>
          <a:ln>
            <a:solidFill>
              <a:srgbClr val="0F29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76C1A6-66B8-DB0F-F4DB-9B5D7A85D157}"/>
              </a:ext>
            </a:extLst>
          </p:cNvPr>
          <p:cNvSpPr/>
          <p:nvPr/>
        </p:nvSpPr>
        <p:spPr>
          <a:xfrm>
            <a:off x="9012494" y="2072752"/>
            <a:ext cx="2648565" cy="3272697"/>
          </a:xfrm>
          <a:prstGeom prst="rect">
            <a:avLst/>
          </a:prstGeom>
          <a:solidFill>
            <a:srgbClr val="0F299C">
              <a:alpha val="20000"/>
            </a:srgbClr>
          </a:solidFill>
          <a:ln>
            <a:solidFill>
              <a:srgbClr val="0F29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422CB2-85FE-2FA3-0F51-30CD4AA2DD66}"/>
              </a:ext>
            </a:extLst>
          </p:cNvPr>
          <p:cNvSpPr txBox="1"/>
          <p:nvPr/>
        </p:nvSpPr>
        <p:spPr>
          <a:xfrm>
            <a:off x="5096528" y="2326550"/>
            <a:ext cx="19989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solidFill>
                  <a:srgbClr val="0F299C"/>
                </a:solidFill>
              </a:rPr>
              <a:t>Visual Simulator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E074DA-859B-DFB7-4191-C0469E093B3A}"/>
              </a:ext>
            </a:extLst>
          </p:cNvPr>
          <p:cNvSpPr txBox="1"/>
          <p:nvPr/>
        </p:nvSpPr>
        <p:spPr>
          <a:xfrm>
            <a:off x="9343555" y="2326550"/>
            <a:ext cx="19864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solidFill>
                  <a:srgbClr val="0F299C"/>
                </a:solidFill>
              </a:rPr>
              <a:t>Concept Builder</a:t>
            </a:r>
          </a:p>
        </p:txBody>
      </p:sp>
      <p:pic>
        <p:nvPicPr>
          <p:cNvPr id="22" name="Picture 21" descr="Calculator Clipart PNGs for Free Download">
            <a:extLst>
              <a:ext uri="{FF2B5EF4-FFF2-40B4-BE49-F238E27FC236}">
                <a16:creationId xmlns:a16="http://schemas.microsoft.com/office/drawing/2014/main" id="{1E81A0A9-F111-A275-769A-A2B516380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581" y="2828806"/>
            <a:ext cx="825285" cy="10580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4" name="Picture 23" descr="Pause Play And Stop PNG Transparent Background, Free Download #29673 -  FreeIconsPNG">
            <a:extLst>
              <a:ext uri="{FF2B5EF4-FFF2-40B4-BE49-F238E27FC236}">
                <a16:creationId xmlns:a16="http://schemas.microsoft.com/office/drawing/2014/main" id="{4240A791-386B-C6B5-946A-9C1FF656B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4961" y="2980458"/>
            <a:ext cx="2242082" cy="63772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396A419-E931-2513-DD8D-0FF1688975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6674" y="2777734"/>
            <a:ext cx="1160202" cy="11602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CC305643-D38F-644F-87A4-E458CCBC258E}"/>
              </a:ext>
            </a:extLst>
          </p:cNvPr>
          <p:cNvSpPr txBox="1"/>
          <p:nvPr/>
        </p:nvSpPr>
        <p:spPr>
          <a:xfrm>
            <a:off x="751331" y="4154492"/>
            <a:ext cx="22077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Calculates various</a:t>
            </a:r>
          </a:p>
          <a:p>
            <a:r>
              <a:rPr lang="en-IN" dirty="0"/>
              <a:t>Physical Parameters</a:t>
            </a:r>
          </a:p>
          <a:p>
            <a:r>
              <a:rPr lang="en-IN" dirty="0"/>
              <a:t>quickly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FE2370B-14FA-D9C8-23D8-083B88EED7C4}"/>
              </a:ext>
            </a:extLst>
          </p:cNvPr>
          <p:cNvSpPr txBox="1"/>
          <p:nvPr/>
        </p:nvSpPr>
        <p:spPr>
          <a:xfrm>
            <a:off x="4974961" y="4154492"/>
            <a:ext cx="22360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Provides intuitive</a:t>
            </a:r>
          </a:p>
          <a:p>
            <a:r>
              <a:rPr lang="en-IN" dirty="0"/>
              <a:t>simulation of motion</a:t>
            </a:r>
          </a:p>
          <a:p>
            <a:r>
              <a:rPr lang="en-IN" dirty="0"/>
              <a:t>of particles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960286F-94E6-DCA9-AD0D-68151A0EB9F7}"/>
              </a:ext>
            </a:extLst>
          </p:cNvPr>
          <p:cNvSpPr txBox="1"/>
          <p:nvPr/>
        </p:nvSpPr>
        <p:spPr>
          <a:xfrm>
            <a:off x="9367471" y="4154492"/>
            <a:ext cx="193860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Has additional</a:t>
            </a:r>
          </a:p>
          <a:p>
            <a:r>
              <a:rPr lang="en-IN" dirty="0"/>
              <a:t>information to aid</a:t>
            </a:r>
          </a:p>
          <a:p>
            <a:r>
              <a:rPr lang="en-IN" dirty="0"/>
              <a:t>learning</a:t>
            </a:r>
          </a:p>
        </p:txBody>
      </p:sp>
    </p:spTree>
    <p:extLst>
      <p:ext uri="{BB962C8B-B14F-4D97-AF65-F5344CB8AC3E}">
        <p14:creationId xmlns:p14="http://schemas.microsoft.com/office/powerpoint/2010/main" val="112354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4731"/>
    </mc:Choice>
    <mc:Fallback xmlns="">
      <p:transition spd="slow" advTm="9473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264ED-6553-0CD6-B923-59521483C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1C037-4621-9AAE-FBCD-818863AB0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942" y="276636"/>
            <a:ext cx="11130115" cy="519778"/>
          </a:xfrm>
          <a:solidFill>
            <a:srgbClr val="0F299C"/>
          </a:solidFill>
        </p:spPr>
        <p:txBody>
          <a:bodyPr>
            <a:normAutofit/>
          </a:bodyPr>
          <a:lstStyle/>
          <a:p>
            <a:pPr algn="ctr"/>
            <a:r>
              <a:rPr lang="en-IN" sz="2400" dirty="0">
                <a:solidFill>
                  <a:schemeClr val="bg1"/>
                </a:solidFill>
              </a:rPr>
              <a:t>Problem Identification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FECA7B-A5F3-77E0-6E0A-D75B01AECF3D}"/>
              </a:ext>
            </a:extLst>
          </p:cNvPr>
          <p:cNvSpPr txBox="1"/>
          <p:nvPr/>
        </p:nvSpPr>
        <p:spPr>
          <a:xfrm>
            <a:off x="524640" y="1335528"/>
            <a:ext cx="7527979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dirty="0"/>
              <a:t>Most students who take a </a:t>
            </a:r>
            <a:r>
              <a:rPr lang="en-IN" sz="2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physics</a:t>
            </a:r>
            <a:r>
              <a:rPr lang="en-IN" sz="2600" dirty="0"/>
              <a:t> course know all</a:t>
            </a:r>
          </a:p>
          <a:p>
            <a:r>
              <a:rPr lang="en-IN" sz="2600" dirty="0"/>
              <a:t>the </a:t>
            </a:r>
            <a:r>
              <a:rPr lang="en-IN" sz="2600" dirty="0">
                <a:solidFill>
                  <a:schemeClr val="accent2"/>
                </a:solidFill>
              </a:rPr>
              <a:t>basic formulas </a:t>
            </a:r>
            <a:r>
              <a:rPr lang="en-IN" sz="2600" dirty="0"/>
              <a:t>and how to calculate the answer</a:t>
            </a:r>
          </a:p>
          <a:p>
            <a:r>
              <a:rPr lang="en-IN" sz="2600" dirty="0"/>
              <a:t>to most nascent physical problems.</a:t>
            </a:r>
          </a:p>
          <a:p>
            <a:endParaRPr lang="en-IN" sz="2600" dirty="0"/>
          </a:p>
          <a:p>
            <a:r>
              <a:rPr lang="en-IN" sz="2600" dirty="0"/>
              <a:t>But very few of them actually develop</a:t>
            </a:r>
          </a:p>
          <a:p>
            <a:r>
              <a:rPr lang="en-IN" sz="2600" dirty="0"/>
              <a:t>a </a:t>
            </a:r>
            <a:r>
              <a:rPr lang="en-IN" sz="2600" dirty="0">
                <a:solidFill>
                  <a:srgbClr val="FF0000"/>
                </a:solidFill>
              </a:rPr>
              <a:t>physical intuition</a:t>
            </a:r>
            <a:r>
              <a:rPr lang="en-IN" sz="2600" dirty="0"/>
              <a:t>.</a:t>
            </a:r>
          </a:p>
          <a:p>
            <a:endParaRPr lang="en-IN" sz="2600" dirty="0"/>
          </a:p>
          <a:p>
            <a:r>
              <a:rPr lang="en-IN" sz="2600" dirty="0"/>
              <a:t>A true physical intuition is necessary to solve</a:t>
            </a:r>
          </a:p>
          <a:p>
            <a:r>
              <a:rPr lang="en-IN" sz="2600" dirty="0">
                <a:solidFill>
                  <a:srgbClr val="7030A0"/>
                </a:solidFill>
              </a:rPr>
              <a:t>complex problems </a:t>
            </a:r>
            <a:r>
              <a:rPr lang="en-IN" sz="2600" dirty="0"/>
              <a:t>or build intricate models, that</a:t>
            </a:r>
          </a:p>
          <a:p>
            <a:r>
              <a:rPr lang="en-IN" sz="2600" dirty="0"/>
              <a:t>can accurately predict the </a:t>
            </a:r>
            <a:r>
              <a:rPr lang="en-IN" sz="2600" dirty="0">
                <a:solidFill>
                  <a:schemeClr val="accent6"/>
                </a:solidFill>
              </a:rPr>
              <a:t>nature of the universe</a:t>
            </a:r>
            <a:r>
              <a:rPr lang="en-IN" sz="2600" dirty="0"/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82EAEE-DCA9-CB81-C477-461B8E0C81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019" t="7047" r="8599" b="8034"/>
          <a:stretch>
            <a:fillRect/>
          </a:stretch>
        </p:blipFill>
        <p:spPr>
          <a:xfrm>
            <a:off x="8288592" y="1350380"/>
            <a:ext cx="3372465" cy="4078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900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4731"/>
    </mc:Choice>
    <mc:Fallback xmlns="">
      <p:transition spd="slow" advTm="9473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C9441-7D2F-CB8B-4A7F-715B79FE3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43F4E-8DD9-B02B-47AA-D34F16EEB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942" y="276636"/>
            <a:ext cx="11130115" cy="519778"/>
          </a:xfrm>
          <a:solidFill>
            <a:srgbClr val="0F299C"/>
          </a:solidFill>
        </p:spPr>
        <p:txBody>
          <a:bodyPr>
            <a:normAutofit/>
          </a:bodyPr>
          <a:lstStyle/>
          <a:p>
            <a:pPr algn="ctr"/>
            <a:r>
              <a:rPr lang="en-IN" sz="2400" dirty="0">
                <a:solidFill>
                  <a:schemeClr val="bg1"/>
                </a:solidFill>
              </a:rPr>
              <a:t>Problem Identification (Contd.)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038F57-6FC4-9A7F-9DC7-8007A0E111A0}"/>
              </a:ext>
            </a:extLst>
          </p:cNvPr>
          <p:cNvSpPr txBox="1"/>
          <p:nvPr/>
        </p:nvSpPr>
        <p:spPr>
          <a:xfrm>
            <a:off x="524640" y="1335528"/>
            <a:ext cx="1113011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dirty="0"/>
              <a:t>The Gap boils down to the a few points discussed below:</a:t>
            </a:r>
          </a:p>
          <a:p>
            <a:endParaRPr lang="en-IN" sz="2600" dirty="0">
              <a:highlight>
                <a:srgbClr val="000000"/>
              </a:highlight>
            </a:endParaRPr>
          </a:p>
          <a:p>
            <a:r>
              <a:rPr lang="en-IN" sz="2600" dirty="0">
                <a:solidFill>
                  <a:schemeClr val="bg1"/>
                </a:solidFill>
                <a:highlight>
                  <a:srgbClr val="000000"/>
                </a:highlight>
              </a:rPr>
              <a:t>1. Abstract Math vs Physical Intuition</a:t>
            </a:r>
          </a:p>
        </p:txBody>
      </p:sp>
      <p:pic>
        <p:nvPicPr>
          <p:cNvPr id="5" name="Picture 4" descr="Math Problem Board Images – Browse 9,940 Stock Photos, Vectors, and Video |  Adobe Stock">
            <a:extLst>
              <a:ext uri="{FF2B5EF4-FFF2-40B4-BE49-F238E27FC236}">
                <a16:creationId xmlns:a16="http://schemas.microsoft.com/office/drawing/2014/main" id="{CC1E7BA9-2E31-66FF-F5DA-3A7700EDD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011" y="2742709"/>
            <a:ext cx="5044686" cy="3363124"/>
          </a:xfrm>
          <a:prstGeom prst="rect">
            <a:avLst/>
          </a:prstGeom>
        </p:spPr>
      </p:pic>
      <p:pic>
        <p:nvPicPr>
          <p:cNvPr id="6" name="Picture 5" descr="Intuitive - Free education icons">
            <a:extLst>
              <a:ext uri="{FF2B5EF4-FFF2-40B4-BE49-F238E27FC236}">
                <a16:creationId xmlns:a16="http://schemas.microsoft.com/office/drawing/2014/main" id="{5C3E0604-657A-7BE1-25F5-08A0E5FC9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6332" y="2742709"/>
            <a:ext cx="3363124" cy="336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636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4731"/>
    </mc:Choice>
    <mc:Fallback xmlns="">
      <p:transition spd="slow" advTm="9473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43023-DA6D-C6E4-000E-F4B9B0382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AF084-99B4-5CC9-2E57-3B1934E10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942" y="276636"/>
            <a:ext cx="11130115" cy="519778"/>
          </a:xfrm>
          <a:solidFill>
            <a:srgbClr val="0F299C"/>
          </a:solidFill>
        </p:spPr>
        <p:txBody>
          <a:bodyPr>
            <a:normAutofit/>
          </a:bodyPr>
          <a:lstStyle/>
          <a:p>
            <a:pPr algn="ctr"/>
            <a:r>
              <a:rPr lang="en-IN" sz="2400" dirty="0">
                <a:solidFill>
                  <a:schemeClr val="bg1"/>
                </a:solidFill>
              </a:rPr>
              <a:t>Problem Identification (Contd.)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A63B14-56F1-709E-32D8-D25A934BDD1C}"/>
              </a:ext>
            </a:extLst>
          </p:cNvPr>
          <p:cNvSpPr txBox="1"/>
          <p:nvPr/>
        </p:nvSpPr>
        <p:spPr>
          <a:xfrm>
            <a:off x="524640" y="1335528"/>
            <a:ext cx="1113011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dirty="0">
                <a:solidFill>
                  <a:schemeClr val="bg1"/>
                </a:solidFill>
                <a:highlight>
                  <a:srgbClr val="000000"/>
                </a:highlight>
              </a:rPr>
              <a:t>2. Limitations of Standard Scientific Calculators</a:t>
            </a:r>
          </a:p>
        </p:txBody>
      </p:sp>
      <p:pic>
        <p:nvPicPr>
          <p:cNvPr id="4" name="Picture 3" descr="Calculator Scientific Free Clipart HQ Transparent HQ PNG Download |  FreePNGimg">
            <a:extLst>
              <a:ext uri="{FF2B5EF4-FFF2-40B4-BE49-F238E27FC236}">
                <a16:creationId xmlns:a16="http://schemas.microsoft.com/office/drawing/2014/main" id="{8B91BAF6-58E1-D798-61DD-A291FA7DA6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784" r="11233"/>
          <a:stretch>
            <a:fillRect/>
          </a:stretch>
        </p:blipFill>
        <p:spPr>
          <a:xfrm>
            <a:off x="711453" y="2207371"/>
            <a:ext cx="2722436" cy="368215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33D6E18-228F-8D20-B6D8-4737AD0AB5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7710" y="2044923"/>
            <a:ext cx="4007045" cy="4007045"/>
          </a:xfrm>
          <a:prstGeom prst="rect">
            <a:avLst/>
          </a:prstGeom>
        </p:spPr>
      </p:pic>
      <p:pic>
        <p:nvPicPr>
          <p:cNvPr id="11" name="Picture 10" descr="File:Projectile-Motion.png - Wikimedia Commons">
            <a:extLst>
              <a:ext uri="{FF2B5EF4-FFF2-40B4-BE49-F238E27FC236}">
                <a16:creationId xmlns:a16="http://schemas.microsoft.com/office/drawing/2014/main" id="{A935A065-0536-D831-966B-E854AEC496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5355" y="2207371"/>
            <a:ext cx="3383443" cy="368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30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4731"/>
    </mc:Choice>
    <mc:Fallback xmlns="">
      <p:transition spd="slow" advTm="9473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F4947-9166-0754-FF00-5391F6F32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65497-5277-8485-BC8C-986FAE61A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942" y="276636"/>
            <a:ext cx="11130115" cy="519778"/>
          </a:xfrm>
          <a:solidFill>
            <a:srgbClr val="0F299C"/>
          </a:solidFill>
        </p:spPr>
        <p:txBody>
          <a:bodyPr>
            <a:normAutofit/>
          </a:bodyPr>
          <a:lstStyle/>
          <a:p>
            <a:pPr algn="ctr"/>
            <a:r>
              <a:rPr lang="en-IN" sz="2400" dirty="0">
                <a:solidFill>
                  <a:schemeClr val="bg1"/>
                </a:solidFill>
              </a:rPr>
              <a:t>Problem Identification (Contd.)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10BA03-961C-503E-225B-34185C4DF401}"/>
              </a:ext>
            </a:extLst>
          </p:cNvPr>
          <p:cNvSpPr txBox="1"/>
          <p:nvPr/>
        </p:nvSpPr>
        <p:spPr>
          <a:xfrm>
            <a:off x="524640" y="1335528"/>
            <a:ext cx="1113011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dirty="0">
                <a:solidFill>
                  <a:schemeClr val="bg1"/>
                </a:solidFill>
                <a:highlight>
                  <a:srgbClr val="000000"/>
                </a:highlight>
              </a:rPr>
              <a:t>3. Dimensional Disconnect</a:t>
            </a:r>
          </a:p>
        </p:txBody>
      </p:sp>
      <p:pic>
        <p:nvPicPr>
          <p:cNvPr id="3" name="Picture 2" descr="Motion in a Straight Line - Physics | CLASS XI - MENIIT">
            <a:extLst>
              <a:ext uri="{FF2B5EF4-FFF2-40B4-BE49-F238E27FC236}">
                <a16:creationId xmlns:a16="http://schemas.microsoft.com/office/drawing/2014/main" id="{48818740-1549-87FB-6F0E-38561DF49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640" y="2590651"/>
            <a:ext cx="6706536" cy="2133898"/>
          </a:xfrm>
          <a:prstGeom prst="rect">
            <a:avLst/>
          </a:prstGeom>
        </p:spPr>
      </p:pic>
      <p:pic>
        <p:nvPicPr>
          <p:cNvPr id="5" name="Picture 4" descr="Three Dimensional Motion Physics Stock Vector (Royalty Free) 2047489325 |  Shutterstock">
            <a:extLst>
              <a:ext uri="{FF2B5EF4-FFF2-40B4-BE49-F238E27FC236}">
                <a16:creationId xmlns:a16="http://schemas.microsoft.com/office/drawing/2014/main" id="{9B7C92CA-65DD-5B9E-082B-C4176A897F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294"/>
          <a:stretch>
            <a:fillRect/>
          </a:stretch>
        </p:blipFill>
        <p:spPr>
          <a:xfrm>
            <a:off x="7231176" y="1305539"/>
            <a:ext cx="4711781" cy="4704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450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4731"/>
    </mc:Choice>
    <mc:Fallback xmlns="">
      <p:transition spd="slow" advTm="9473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2A44C-4253-3AF2-A16B-DD8C61AE0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D3C24-E2D7-3FE9-C22D-8D5A369CC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942" y="276636"/>
            <a:ext cx="11130115" cy="519778"/>
          </a:xfrm>
          <a:solidFill>
            <a:srgbClr val="0F299C"/>
          </a:solidFill>
        </p:spPr>
        <p:txBody>
          <a:bodyPr>
            <a:normAutofit/>
          </a:bodyPr>
          <a:lstStyle/>
          <a:p>
            <a:pPr algn="ctr"/>
            <a:r>
              <a:rPr lang="en-IN" sz="2400" dirty="0">
                <a:solidFill>
                  <a:schemeClr val="bg1"/>
                </a:solidFill>
              </a:rPr>
              <a:t>Problem Identification (Contd.)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448A2F-01D9-5CFA-5780-6DFA1D0072D3}"/>
              </a:ext>
            </a:extLst>
          </p:cNvPr>
          <p:cNvSpPr txBox="1"/>
          <p:nvPr/>
        </p:nvSpPr>
        <p:spPr>
          <a:xfrm>
            <a:off x="524640" y="1335528"/>
            <a:ext cx="1113011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dirty="0">
                <a:solidFill>
                  <a:schemeClr val="bg1"/>
                </a:solidFill>
                <a:highlight>
                  <a:srgbClr val="000000"/>
                </a:highlight>
              </a:rPr>
              <a:t>4. The Macroscopic to Microscopic Bridge </a:t>
            </a:r>
          </a:p>
        </p:txBody>
      </p:sp>
      <p:pic>
        <p:nvPicPr>
          <p:cNvPr id="6" name="Picture 5" descr="Classical vs Quantum Physics: What's the Difference? | sumanth vuppu posted  on the topic | LinkedIn">
            <a:extLst>
              <a:ext uri="{FF2B5EF4-FFF2-40B4-BE49-F238E27FC236}">
                <a16:creationId xmlns:a16="http://schemas.microsoft.com/office/drawing/2014/main" id="{2E36115E-A80F-5A82-3F59-CE07E39F2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0895" y="2168013"/>
            <a:ext cx="3583860" cy="3583860"/>
          </a:xfrm>
          <a:prstGeom prst="rect">
            <a:avLst/>
          </a:prstGeom>
        </p:spPr>
      </p:pic>
      <p:pic>
        <p:nvPicPr>
          <p:cNvPr id="8" name="Picture 7" descr="Luxury car png Images - Free Download on Magnific (formerly Freepik)">
            <a:extLst>
              <a:ext uri="{FF2B5EF4-FFF2-40B4-BE49-F238E27FC236}">
                <a16:creationId xmlns:a16="http://schemas.microsoft.com/office/drawing/2014/main" id="{E810B212-FA19-147C-D3B7-9C92A9AEC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245" y="2010697"/>
            <a:ext cx="3328995" cy="1866936"/>
          </a:xfrm>
          <a:prstGeom prst="rect">
            <a:avLst/>
          </a:prstGeom>
        </p:spPr>
      </p:pic>
      <p:pic>
        <p:nvPicPr>
          <p:cNvPr id="9" name="Picture 8" descr="Electron - Free shapes icons">
            <a:extLst>
              <a:ext uri="{FF2B5EF4-FFF2-40B4-BE49-F238E27FC236}">
                <a16:creationId xmlns:a16="http://schemas.microsoft.com/office/drawing/2014/main" id="{23B525E9-47B8-BA10-E11A-0D3EC6AFDA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1620" y="4291629"/>
            <a:ext cx="1460244" cy="146024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AA95F08-7483-456A-6345-BBA267FED694}"/>
              </a:ext>
            </a:extLst>
          </p:cNvPr>
          <p:cNvSpPr txBox="1"/>
          <p:nvPr/>
        </p:nvSpPr>
        <p:spPr>
          <a:xfrm>
            <a:off x="4121106" y="2367085"/>
            <a:ext cx="3241850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Classical Mechanics,</a:t>
            </a:r>
          </a:p>
          <a:p>
            <a:r>
              <a:rPr lang="en-IN" dirty="0"/>
              <a:t>Example: A Car</a:t>
            </a:r>
          </a:p>
          <a:p>
            <a:r>
              <a:rPr lang="en-IN" dirty="0"/>
              <a:t>(Given by Newton)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Quantum Mechanics,</a:t>
            </a:r>
          </a:p>
          <a:p>
            <a:r>
              <a:rPr lang="en-IN" dirty="0"/>
              <a:t>Example: Sub-atomic particles</a:t>
            </a:r>
          </a:p>
          <a:p>
            <a:r>
              <a:rPr lang="en-IN" dirty="0"/>
              <a:t>(Given by Einstein)</a:t>
            </a:r>
          </a:p>
        </p:txBody>
      </p:sp>
    </p:spTree>
    <p:extLst>
      <p:ext uri="{BB962C8B-B14F-4D97-AF65-F5344CB8AC3E}">
        <p14:creationId xmlns:p14="http://schemas.microsoft.com/office/powerpoint/2010/main" val="2961605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4731"/>
    </mc:Choice>
    <mc:Fallback xmlns="">
      <p:transition spd="slow" advTm="9473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B0252-EA9A-7E29-EB62-5449B9C1D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B022C-B3B0-09B6-A4AC-469B28D80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942" y="276636"/>
            <a:ext cx="11130115" cy="519778"/>
          </a:xfrm>
          <a:solidFill>
            <a:srgbClr val="0F299C"/>
          </a:solidFill>
        </p:spPr>
        <p:txBody>
          <a:bodyPr>
            <a:normAutofit/>
          </a:bodyPr>
          <a:lstStyle/>
          <a:p>
            <a:pPr algn="ctr"/>
            <a:r>
              <a:rPr lang="en-IN" sz="2400" dirty="0">
                <a:solidFill>
                  <a:schemeClr val="bg1"/>
                </a:solidFill>
              </a:rPr>
              <a:t>Literary Survey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7805F2-2205-DAEA-77CD-7537582FAC3E}"/>
              </a:ext>
            </a:extLst>
          </p:cNvPr>
          <p:cNvSpPr txBox="1"/>
          <p:nvPr/>
        </p:nvSpPr>
        <p:spPr>
          <a:xfrm>
            <a:off x="524640" y="1335528"/>
            <a:ext cx="1113011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dirty="0">
                <a:solidFill>
                  <a:schemeClr val="bg1"/>
                </a:solidFill>
                <a:highlight>
                  <a:srgbClr val="000000"/>
                </a:highlight>
              </a:rPr>
              <a:t>Analysis of current Physics Educational Software:</a:t>
            </a:r>
          </a:p>
          <a:p>
            <a:endParaRPr lang="en-IN" sz="2600" dirty="0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IN" sz="2600" dirty="0">
                <a:solidFill>
                  <a:srgbClr val="000000"/>
                </a:solidFill>
              </a:rPr>
              <a:t>A. Interactive Web Simulators (</a:t>
            </a:r>
            <a:r>
              <a:rPr lang="en-IN" sz="2600" dirty="0" err="1">
                <a:solidFill>
                  <a:srgbClr val="000000"/>
                </a:solidFill>
              </a:rPr>
              <a:t>PhET</a:t>
            </a:r>
            <a:r>
              <a:rPr lang="en-IN" sz="2600" dirty="0">
                <a:solidFill>
                  <a:srgbClr val="000000"/>
                </a:solidFill>
              </a:rPr>
              <a:t> Colorado)</a:t>
            </a:r>
            <a:r>
              <a:rPr lang="en-IN" sz="26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5185BC-2398-06F2-E302-A37009579C32}"/>
              </a:ext>
            </a:extLst>
          </p:cNvPr>
          <p:cNvSpPr/>
          <p:nvPr/>
        </p:nvSpPr>
        <p:spPr>
          <a:xfrm>
            <a:off x="530942" y="2861188"/>
            <a:ext cx="11130115" cy="2576051"/>
          </a:xfrm>
          <a:prstGeom prst="rect">
            <a:avLst/>
          </a:prstGeom>
          <a:solidFill>
            <a:srgbClr val="0F299C">
              <a:alpha val="20000"/>
            </a:srgbClr>
          </a:solidFill>
          <a:ln>
            <a:solidFill>
              <a:srgbClr val="0F29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3AE32C1-FB6C-B37A-0A6E-4B7FBE232F81}"/>
              </a:ext>
            </a:extLst>
          </p:cNvPr>
          <p:cNvCxnSpPr>
            <a:cxnSpLocks/>
            <a:stCxn id="4" idx="0"/>
            <a:endCxn id="4" idx="2"/>
          </p:cNvCxnSpPr>
          <p:nvPr/>
        </p:nvCxnSpPr>
        <p:spPr>
          <a:xfrm>
            <a:off x="6096000" y="2861188"/>
            <a:ext cx="0" cy="2576051"/>
          </a:xfrm>
          <a:prstGeom prst="line">
            <a:avLst/>
          </a:prstGeom>
          <a:ln>
            <a:solidFill>
              <a:srgbClr val="0F29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8B3E596-2070-5337-CA29-5AF410DC4279}"/>
              </a:ext>
            </a:extLst>
          </p:cNvPr>
          <p:cNvSpPr txBox="1"/>
          <p:nvPr/>
        </p:nvSpPr>
        <p:spPr>
          <a:xfrm>
            <a:off x="524640" y="2861188"/>
            <a:ext cx="7769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rgbClr val="0F299C"/>
                </a:solidFill>
              </a:rPr>
              <a:t>Pros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DC32EF-B24C-4FA2-2A3B-86713B481F82}"/>
              </a:ext>
            </a:extLst>
          </p:cNvPr>
          <p:cNvSpPr txBox="1"/>
          <p:nvPr/>
        </p:nvSpPr>
        <p:spPr>
          <a:xfrm>
            <a:off x="6102303" y="2861188"/>
            <a:ext cx="8867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rgbClr val="0F299C"/>
                </a:solidFill>
              </a:rPr>
              <a:t>Cons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2569BB7-88FE-49C6-5510-897A7EF9D621}"/>
              </a:ext>
            </a:extLst>
          </p:cNvPr>
          <p:cNvCxnSpPr/>
          <p:nvPr/>
        </p:nvCxnSpPr>
        <p:spPr>
          <a:xfrm>
            <a:off x="524640" y="3322853"/>
            <a:ext cx="11130115" cy="0"/>
          </a:xfrm>
          <a:prstGeom prst="line">
            <a:avLst/>
          </a:prstGeom>
          <a:ln>
            <a:solidFill>
              <a:srgbClr val="0F29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AAE5314-AE4F-4204-27DF-A6709E2E5BAC}"/>
              </a:ext>
            </a:extLst>
          </p:cNvPr>
          <p:cNvSpPr txBox="1"/>
          <p:nvPr/>
        </p:nvSpPr>
        <p:spPr>
          <a:xfrm>
            <a:off x="537246" y="3429000"/>
            <a:ext cx="422410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IN" sz="2400" dirty="0">
                <a:solidFill>
                  <a:srgbClr val="0F299C"/>
                </a:solidFill>
              </a:rPr>
              <a:t>Has high educational value</a:t>
            </a:r>
          </a:p>
          <a:p>
            <a:pPr marL="285750" indent="-285750">
              <a:buFontTx/>
              <a:buChar char="-"/>
            </a:pPr>
            <a:r>
              <a:rPr lang="en-IN" sz="2400" dirty="0">
                <a:solidFill>
                  <a:srgbClr val="0F299C"/>
                </a:solidFill>
              </a:rPr>
              <a:t>Supports more topics</a:t>
            </a:r>
          </a:p>
          <a:p>
            <a:pPr marL="285750" indent="-285750">
              <a:buFontTx/>
              <a:buChar char="-"/>
            </a:pPr>
            <a:r>
              <a:rPr lang="en-IN" sz="2400" dirty="0">
                <a:solidFill>
                  <a:srgbClr val="0F299C"/>
                </a:solidFill>
              </a:rPr>
              <a:t>Great for qualitative learning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969A3E8-977D-E813-E672-6FB9B10406B3}"/>
              </a:ext>
            </a:extLst>
          </p:cNvPr>
          <p:cNvSpPr txBox="1"/>
          <p:nvPr/>
        </p:nvSpPr>
        <p:spPr>
          <a:xfrm>
            <a:off x="6102303" y="3429000"/>
            <a:ext cx="438299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IN" sz="2400" dirty="0">
                <a:solidFill>
                  <a:srgbClr val="0F299C"/>
                </a:solidFill>
              </a:rPr>
              <a:t>Web bound</a:t>
            </a:r>
          </a:p>
          <a:p>
            <a:pPr marL="285750" indent="-285750">
              <a:buFontTx/>
              <a:buChar char="-"/>
            </a:pPr>
            <a:r>
              <a:rPr lang="en-IN" sz="2400" dirty="0">
                <a:solidFill>
                  <a:srgbClr val="0F299C"/>
                </a:solidFill>
              </a:rPr>
              <a:t>Does not properly visualize</a:t>
            </a:r>
          </a:p>
          <a:p>
            <a:pPr marL="285750" indent="-285750">
              <a:buFontTx/>
              <a:buChar char="-"/>
            </a:pPr>
            <a:r>
              <a:rPr lang="en-IN" sz="2400" dirty="0">
                <a:solidFill>
                  <a:srgbClr val="0F299C"/>
                </a:solidFill>
              </a:rPr>
              <a:t>component-level vector math</a:t>
            </a:r>
          </a:p>
          <a:p>
            <a:pPr marL="285750" indent="-285750">
              <a:buFontTx/>
              <a:buChar char="-"/>
            </a:pPr>
            <a:r>
              <a:rPr lang="en-IN" sz="2400" dirty="0">
                <a:solidFill>
                  <a:srgbClr val="0F299C"/>
                </a:solidFill>
              </a:rPr>
              <a:t>No additional conceptual aid</a:t>
            </a:r>
          </a:p>
        </p:txBody>
      </p:sp>
    </p:spTree>
    <p:extLst>
      <p:ext uri="{BB962C8B-B14F-4D97-AF65-F5344CB8AC3E}">
        <p14:creationId xmlns:p14="http://schemas.microsoft.com/office/powerpoint/2010/main" val="3786740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4731"/>
    </mc:Choice>
    <mc:Fallback xmlns="">
      <p:transition spd="slow" advTm="9473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175FF-981B-A2EE-9B3C-4102B7C74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8FE74-A082-627A-B4EC-8640427B2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942" y="276636"/>
            <a:ext cx="11130115" cy="519778"/>
          </a:xfrm>
          <a:solidFill>
            <a:srgbClr val="0F299C"/>
          </a:solidFill>
        </p:spPr>
        <p:txBody>
          <a:bodyPr>
            <a:normAutofit/>
          </a:bodyPr>
          <a:lstStyle/>
          <a:p>
            <a:pPr algn="ctr"/>
            <a:r>
              <a:rPr lang="en-IN" sz="2400" dirty="0">
                <a:solidFill>
                  <a:schemeClr val="bg1"/>
                </a:solidFill>
              </a:rPr>
              <a:t>Literary Survey (Contd.)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BD8B2F-4BC2-05E2-5EA4-E1BF5C51E255}"/>
              </a:ext>
            </a:extLst>
          </p:cNvPr>
          <p:cNvSpPr txBox="1"/>
          <p:nvPr/>
        </p:nvSpPr>
        <p:spPr>
          <a:xfrm>
            <a:off x="524640" y="1335528"/>
            <a:ext cx="1113011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dirty="0">
                <a:solidFill>
                  <a:srgbClr val="000000"/>
                </a:solidFill>
              </a:rPr>
              <a:t>B. 2D Physics Sandbox Software (</a:t>
            </a:r>
            <a:r>
              <a:rPr lang="en-IN" sz="2600" dirty="0" err="1">
                <a:solidFill>
                  <a:srgbClr val="000000"/>
                </a:solidFill>
              </a:rPr>
              <a:t>Algodoo</a:t>
            </a:r>
            <a:r>
              <a:rPr lang="en-IN" sz="2600" dirty="0">
                <a:solidFill>
                  <a:srgbClr val="000000"/>
                </a:solidFill>
              </a:rPr>
              <a:t>, </a:t>
            </a:r>
            <a:r>
              <a:rPr lang="en-IN" sz="2600" dirty="0" err="1">
                <a:solidFill>
                  <a:srgbClr val="000000"/>
                </a:solidFill>
              </a:rPr>
              <a:t>Physion</a:t>
            </a:r>
            <a:r>
              <a:rPr lang="en-IN" sz="2600" dirty="0">
                <a:solidFill>
                  <a:srgbClr val="000000"/>
                </a:solidFill>
              </a:rPr>
              <a:t>)</a:t>
            </a:r>
            <a:r>
              <a:rPr lang="en-IN" sz="26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C123D4-4AB8-6103-7771-AFAE78DF9FF7}"/>
              </a:ext>
            </a:extLst>
          </p:cNvPr>
          <p:cNvSpPr/>
          <p:nvPr/>
        </p:nvSpPr>
        <p:spPr>
          <a:xfrm>
            <a:off x="530942" y="2140974"/>
            <a:ext cx="11130115" cy="2576051"/>
          </a:xfrm>
          <a:prstGeom prst="rect">
            <a:avLst/>
          </a:prstGeom>
          <a:solidFill>
            <a:srgbClr val="0F299C">
              <a:alpha val="20000"/>
            </a:srgbClr>
          </a:solidFill>
          <a:ln>
            <a:solidFill>
              <a:srgbClr val="0F29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4804E3C-EC3F-FACE-2C60-54BD710CABB2}"/>
              </a:ext>
            </a:extLst>
          </p:cNvPr>
          <p:cNvCxnSpPr>
            <a:cxnSpLocks/>
            <a:stCxn id="4" idx="0"/>
            <a:endCxn id="4" idx="2"/>
          </p:cNvCxnSpPr>
          <p:nvPr/>
        </p:nvCxnSpPr>
        <p:spPr>
          <a:xfrm>
            <a:off x="6096000" y="2140974"/>
            <a:ext cx="0" cy="2576051"/>
          </a:xfrm>
          <a:prstGeom prst="line">
            <a:avLst/>
          </a:prstGeom>
          <a:ln>
            <a:solidFill>
              <a:srgbClr val="0F29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047F20E-5AFD-BB71-9CD2-EA1718D95A30}"/>
              </a:ext>
            </a:extLst>
          </p:cNvPr>
          <p:cNvSpPr txBox="1"/>
          <p:nvPr/>
        </p:nvSpPr>
        <p:spPr>
          <a:xfrm>
            <a:off x="524640" y="2140974"/>
            <a:ext cx="7769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rgbClr val="0F299C"/>
                </a:solidFill>
              </a:rPr>
              <a:t>Pros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AF8556-AA8B-F0BF-ACDF-9C94701A886F}"/>
              </a:ext>
            </a:extLst>
          </p:cNvPr>
          <p:cNvSpPr txBox="1"/>
          <p:nvPr/>
        </p:nvSpPr>
        <p:spPr>
          <a:xfrm>
            <a:off x="6102303" y="2140974"/>
            <a:ext cx="8867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rgbClr val="0F299C"/>
                </a:solidFill>
              </a:rPr>
              <a:t>Cons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042A3D4-E364-690D-314B-D2B1E5333519}"/>
              </a:ext>
            </a:extLst>
          </p:cNvPr>
          <p:cNvCxnSpPr/>
          <p:nvPr/>
        </p:nvCxnSpPr>
        <p:spPr>
          <a:xfrm>
            <a:off x="524640" y="2602639"/>
            <a:ext cx="11130115" cy="0"/>
          </a:xfrm>
          <a:prstGeom prst="line">
            <a:avLst/>
          </a:prstGeom>
          <a:ln>
            <a:solidFill>
              <a:srgbClr val="0F29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C3A8CCC-497F-CF1F-7998-2EA8C2A335FF}"/>
              </a:ext>
            </a:extLst>
          </p:cNvPr>
          <p:cNvSpPr txBox="1"/>
          <p:nvPr/>
        </p:nvSpPr>
        <p:spPr>
          <a:xfrm>
            <a:off x="547078" y="2708786"/>
            <a:ext cx="467076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IN" sz="2400" dirty="0">
                <a:solidFill>
                  <a:srgbClr val="0F299C"/>
                </a:solidFill>
              </a:rPr>
              <a:t>High Graphical freedom</a:t>
            </a:r>
          </a:p>
          <a:p>
            <a:pPr marL="285750" indent="-285750">
              <a:buFontTx/>
              <a:buChar char="-"/>
            </a:pPr>
            <a:r>
              <a:rPr lang="en-IN" sz="2400" dirty="0">
                <a:solidFill>
                  <a:srgbClr val="0F299C"/>
                </a:solidFill>
              </a:rPr>
              <a:t>Support for rigid body dynamics</a:t>
            </a:r>
          </a:p>
          <a:p>
            <a:pPr marL="285750" indent="-285750">
              <a:buFontTx/>
              <a:buChar char="-"/>
            </a:pPr>
            <a:r>
              <a:rPr lang="en-IN" sz="2400" dirty="0">
                <a:solidFill>
                  <a:srgbClr val="0F299C"/>
                </a:solidFill>
              </a:rPr>
              <a:t>Toy-like interactions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8381B74-3B7A-B374-20E3-524C6B85AC3B}"/>
              </a:ext>
            </a:extLst>
          </p:cNvPr>
          <p:cNvSpPr txBox="1"/>
          <p:nvPr/>
        </p:nvSpPr>
        <p:spPr>
          <a:xfrm>
            <a:off x="6102303" y="2708786"/>
            <a:ext cx="474585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IN" sz="2400" dirty="0">
                <a:solidFill>
                  <a:srgbClr val="0F299C"/>
                </a:solidFill>
              </a:rPr>
              <a:t>Only supports 2D mechanics</a:t>
            </a:r>
          </a:p>
          <a:p>
            <a:pPr marL="285750" indent="-285750">
              <a:buFontTx/>
              <a:buChar char="-"/>
            </a:pPr>
            <a:r>
              <a:rPr lang="en-IN" sz="2400" dirty="0">
                <a:solidFill>
                  <a:srgbClr val="0F299C"/>
                </a:solidFill>
              </a:rPr>
              <a:t>No microscopic modules</a:t>
            </a:r>
          </a:p>
          <a:p>
            <a:pPr marL="285750" indent="-285750">
              <a:buFontTx/>
              <a:buChar char="-"/>
            </a:pPr>
            <a:r>
              <a:rPr lang="en-IN" sz="2400" dirty="0">
                <a:solidFill>
                  <a:srgbClr val="0F299C"/>
                </a:solidFill>
              </a:rPr>
              <a:t>Visual Sandbox is primary focus </a:t>
            </a:r>
          </a:p>
        </p:txBody>
      </p:sp>
    </p:spTree>
    <p:extLst>
      <p:ext uri="{BB962C8B-B14F-4D97-AF65-F5344CB8AC3E}">
        <p14:creationId xmlns:p14="http://schemas.microsoft.com/office/powerpoint/2010/main" val="776928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4731"/>
    </mc:Choice>
    <mc:Fallback xmlns="">
      <p:transition spd="slow" advTm="9473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C8008-39E1-B148-38F8-54F4BFA68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D9D1D-6D6E-A67C-1CD3-056C035F7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942" y="276636"/>
            <a:ext cx="11130115" cy="519778"/>
          </a:xfrm>
          <a:solidFill>
            <a:srgbClr val="0F299C"/>
          </a:solidFill>
        </p:spPr>
        <p:txBody>
          <a:bodyPr>
            <a:normAutofit/>
          </a:bodyPr>
          <a:lstStyle/>
          <a:p>
            <a:pPr algn="ctr"/>
            <a:r>
              <a:rPr lang="en-IN" sz="2400" dirty="0">
                <a:solidFill>
                  <a:schemeClr val="bg1"/>
                </a:solidFill>
              </a:rPr>
              <a:t>Literary Survey (Contd.)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CD8320-8680-853E-C113-E9DFEB7AD4A7}"/>
              </a:ext>
            </a:extLst>
          </p:cNvPr>
          <p:cNvSpPr txBox="1"/>
          <p:nvPr/>
        </p:nvSpPr>
        <p:spPr>
          <a:xfrm>
            <a:off x="524640" y="1335528"/>
            <a:ext cx="1113011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dirty="0">
                <a:solidFill>
                  <a:srgbClr val="000000"/>
                </a:solidFill>
              </a:rPr>
              <a:t>C. Computational Algebra Systems (MATLAB, Wolfram Mathematica)</a:t>
            </a:r>
            <a:endParaRPr lang="en-IN" sz="2600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96438F-81CC-1261-EC99-12273EB0BB00}"/>
              </a:ext>
            </a:extLst>
          </p:cNvPr>
          <p:cNvSpPr/>
          <p:nvPr/>
        </p:nvSpPr>
        <p:spPr>
          <a:xfrm>
            <a:off x="530942" y="2140974"/>
            <a:ext cx="11130115" cy="2576051"/>
          </a:xfrm>
          <a:prstGeom prst="rect">
            <a:avLst/>
          </a:prstGeom>
          <a:solidFill>
            <a:srgbClr val="0F299C">
              <a:alpha val="20000"/>
            </a:srgbClr>
          </a:solidFill>
          <a:ln>
            <a:solidFill>
              <a:srgbClr val="0F29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650ECD4-CCC2-05D5-D27B-656906335FB5}"/>
              </a:ext>
            </a:extLst>
          </p:cNvPr>
          <p:cNvCxnSpPr>
            <a:cxnSpLocks/>
            <a:stCxn id="4" idx="0"/>
            <a:endCxn id="4" idx="2"/>
          </p:cNvCxnSpPr>
          <p:nvPr/>
        </p:nvCxnSpPr>
        <p:spPr>
          <a:xfrm>
            <a:off x="6096000" y="2140974"/>
            <a:ext cx="0" cy="2576051"/>
          </a:xfrm>
          <a:prstGeom prst="line">
            <a:avLst/>
          </a:prstGeom>
          <a:ln>
            <a:solidFill>
              <a:srgbClr val="0F29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95E6B50-DF0A-095A-C091-6140B6E056D5}"/>
              </a:ext>
            </a:extLst>
          </p:cNvPr>
          <p:cNvSpPr txBox="1"/>
          <p:nvPr/>
        </p:nvSpPr>
        <p:spPr>
          <a:xfrm>
            <a:off x="524640" y="2140974"/>
            <a:ext cx="7769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rgbClr val="0F299C"/>
                </a:solidFill>
              </a:rPr>
              <a:t>Pros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9E5D89A-2CE9-AC72-2E19-474418297D84}"/>
              </a:ext>
            </a:extLst>
          </p:cNvPr>
          <p:cNvSpPr txBox="1"/>
          <p:nvPr/>
        </p:nvSpPr>
        <p:spPr>
          <a:xfrm>
            <a:off x="6102303" y="2140974"/>
            <a:ext cx="8867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rgbClr val="0F299C"/>
                </a:solidFill>
              </a:rPr>
              <a:t>Cons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E3CD748-B03B-4F09-232B-0B5A66B07AF3}"/>
              </a:ext>
            </a:extLst>
          </p:cNvPr>
          <p:cNvCxnSpPr/>
          <p:nvPr/>
        </p:nvCxnSpPr>
        <p:spPr>
          <a:xfrm>
            <a:off x="524640" y="2602639"/>
            <a:ext cx="11130115" cy="0"/>
          </a:xfrm>
          <a:prstGeom prst="line">
            <a:avLst/>
          </a:prstGeom>
          <a:ln>
            <a:solidFill>
              <a:srgbClr val="0F29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6B514A6-87B1-5CDA-D5B0-D120C2E2D740}"/>
              </a:ext>
            </a:extLst>
          </p:cNvPr>
          <p:cNvSpPr txBox="1"/>
          <p:nvPr/>
        </p:nvSpPr>
        <p:spPr>
          <a:xfrm>
            <a:off x="547078" y="2708786"/>
            <a:ext cx="53821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IN" sz="2400" dirty="0">
                <a:solidFill>
                  <a:srgbClr val="0F299C"/>
                </a:solidFill>
              </a:rPr>
              <a:t>Highly Accurate for 1 to 3 dimensions</a:t>
            </a:r>
          </a:p>
          <a:p>
            <a:pPr marL="285750" indent="-285750">
              <a:buFontTx/>
              <a:buChar char="-"/>
            </a:pPr>
            <a:r>
              <a:rPr lang="en-IN" sz="2400" dirty="0">
                <a:solidFill>
                  <a:srgbClr val="0F299C"/>
                </a:solidFill>
              </a:rPr>
              <a:t>Quantum Calculation support</a:t>
            </a:r>
          </a:p>
          <a:p>
            <a:pPr marL="285750" indent="-285750">
              <a:buFontTx/>
              <a:buChar char="-"/>
            </a:pPr>
            <a:endParaRPr lang="en-IN" sz="2400" dirty="0">
              <a:solidFill>
                <a:srgbClr val="0F299C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A36A52A-2D7F-59E7-6408-BD9A1FA76AE6}"/>
              </a:ext>
            </a:extLst>
          </p:cNvPr>
          <p:cNvSpPr txBox="1"/>
          <p:nvPr/>
        </p:nvSpPr>
        <p:spPr>
          <a:xfrm>
            <a:off x="6102303" y="2708786"/>
            <a:ext cx="431060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IN" sz="2400" dirty="0">
                <a:solidFill>
                  <a:srgbClr val="0F299C"/>
                </a:solidFill>
              </a:rPr>
              <a:t>Coding proficiency is needed</a:t>
            </a:r>
          </a:p>
          <a:p>
            <a:pPr marL="285750" indent="-285750">
              <a:buFontTx/>
              <a:buChar char="-"/>
            </a:pPr>
            <a:r>
              <a:rPr lang="en-IN" sz="2400" dirty="0">
                <a:solidFill>
                  <a:srgbClr val="0F299C"/>
                </a:solidFill>
              </a:rPr>
              <a:t>No GUI support immediately</a:t>
            </a:r>
          </a:p>
        </p:txBody>
      </p:sp>
    </p:spTree>
    <p:extLst>
      <p:ext uri="{BB962C8B-B14F-4D97-AF65-F5344CB8AC3E}">
        <p14:creationId xmlns:p14="http://schemas.microsoft.com/office/powerpoint/2010/main" val="692977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4731"/>
    </mc:Choice>
    <mc:Fallback xmlns="">
      <p:transition spd="slow" advTm="9473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25BCC-5FAD-BF75-A413-16DB1346B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0ED1A-E3CC-10FE-E135-8011D38AA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942" y="276636"/>
            <a:ext cx="11130115" cy="519778"/>
          </a:xfrm>
          <a:solidFill>
            <a:srgbClr val="0F299C"/>
          </a:solidFill>
        </p:spPr>
        <p:txBody>
          <a:bodyPr>
            <a:normAutofit/>
          </a:bodyPr>
          <a:lstStyle/>
          <a:p>
            <a:pPr algn="ctr"/>
            <a:r>
              <a:rPr lang="en-IN" sz="2400" dirty="0">
                <a:solidFill>
                  <a:schemeClr val="bg1"/>
                </a:solidFill>
              </a:rPr>
              <a:t>Literary Survey (Contd.)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29DCA9-D343-D98B-5721-0369BD015A57}"/>
              </a:ext>
            </a:extLst>
          </p:cNvPr>
          <p:cNvSpPr/>
          <p:nvPr/>
        </p:nvSpPr>
        <p:spPr>
          <a:xfrm>
            <a:off x="4771716" y="3962398"/>
            <a:ext cx="2648565" cy="1651821"/>
          </a:xfrm>
          <a:prstGeom prst="rect">
            <a:avLst/>
          </a:prstGeom>
          <a:solidFill>
            <a:srgbClr val="0F299C">
              <a:alpha val="20000"/>
            </a:srgbClr>
          </a:solidFill>
          <a:ln>
            <a:solidFill>
              <a:srgbClr val="0F29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C33C82-61D8-4511-2035-55D1E9DFAFA4}"/>
              </a:ext>
            </a:extLst>
          </p:cNvPr>
          <p:cNvSpPr/>
          <p:nvPr/>
        </p:nvSpPr>
        <p:spPr>
          <a:xfrm>
            <a:off x="2761018" y="1366681"/>
            <a:ext cx="2648565" cy="1651821"/>
          </a:xfrm>
          <a:prstGeom prst="rect">
            <a:avLst/>
          </a:prstGeom>
          <a:solidFill>
            <a:srgbClr val="0F299C">
              <a:alpha val="20000"/>
            </a:srgbClr>
          </a:solidFill>
          <a:ln>
            <a:solidFill>
              <a:srgbClr val="0F29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99F764-07E1-8289-4B16-44FA42721604}"/>
              </a:ext>
            </a:extLst>
          </p:cNvPr>
          <p:cNvSpPr/>
          <p:nvPr/>
        </p:nvSpPr>
        <p:spPr>
          <a:xfrm>
            <a:off x="6782418" y="1366681"/>
            <a:ext cx="2648565" cy="1651821"/>
          </a:xfrm>
          <a:prstGeom prst="rect">
            <a:avLst/>
          </a:prstGeom>
          <a:solidFill>
            <a:srgbClr val="0F299C">
              <a:alpha val="20000"/>
            </a:srgbClr>
          </a:solidFill>
          <a:ln>
            <a:solidFill>
              <a:srgbClr val="0F29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0D2242-17EC-5153-B52A-E4AF474A66E1}"/>
              </a:ext>
            </a:extLst>
          </p:cNvPr>
          <p:cNvSpPr txBox="1"/>
          <p:nvPr/>
        </p:nvSpPr>
        <p:spPr>
          <a:xfrm>
            <a:off x="2784368" y="1777094"/>
            <a:ext cx="26252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0F299C"/>
                </a:solidFill>
              </a:rPr>
              <a:t>CLASSICAL CALCULATORS</a:t>
            </a:r>
          </a:p>
          <a:p>
            <a:pPr marL="285750" indent="-285750">
              <a:buFontTx/>
              <a:buChar char="-"/>
            </a:pPr>
            <a:r>
              <a:rPr lang="en-IN" sz="1600" dirty="0">
                <a:solidFill>
                  <a:srgbClr val="0F299C"/>
                </a:solidFill>
              </a:rPr>
              <a:t>High mathematical rigor</a:t>
            </a:r>
          </a:p>
          <a:p>
            <a:pPr marL="285750" indent="-285750">
              <a:buFontTx/>
              <a:buChar char="-"/>
            </a:pPr>
            <a:r>
              <a:rPr lang="en-IN" sz="1600" dirty="0">
                <a:solidFill>
                  <a:srgbClr val="0F299C"/>
                </a:solidFill>
              </a:rPr>
              <a:t>Abstract numerical data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A40313-6FBF-C099-F3FB-EE6943E63138}"/>
              </a:ext>
            </a:extLst>
          </p:cNvPr>
          <p:cNvSpPr txBox="1"/>
          <p:nvPr/>
        </p:nvSpPr>
        <p:spPr>
          <a:xfrm>
            <a:off x="6858121" y="1777092"/>
            <a:ext cx="24971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0F299C"/>
                </a:solidFill>
              </a:rPr>
              <a:t>WEB-BASED SIMULATORS</a:t>
            </a:r>
          </a:p>
          <a:p>
            <a:pPr marL="285750" indent="-285750">
              <a:buFontTx/>
              <a:buChar char="-"/>
            </a:pPr>
            <a:r>
              <a:rPr lang="en-IN" sz="1600" dirty="0">
                <a:solidFill>
                  <a:srgbClr val="0F299C"/>
                </a:solidFill>
              </a:rPr>
              <a:t>Intuitive Simulations</a:t>
            </a:r>
          </a:p>
          <a:p>
            <a:pPr marL="285750" indent="-285750">
              <a:buFontTx/>
              <a:buChar char="-"/>
            </a:pPr>
            <a:r>
              <a:rPr lang="en-IN" sz="1600" dirty="0">
                <a:solidFill>
                  <a:srgbClr val="0F299C"/>
                </a:solidFill>
              </a:rPr>
              <a:t>Qualitative Analysis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089F71-9DB7-E035-E5C0-CE3CC7437F3F}"/>
              </a:ext>
            </a:extLst>
          </p:cNvPr>
          <p:cNvSpPr txBox="1"/>
          <p:nvPr/>
        </p:nvSpPr>
        <p:spPr>
          <a:xfrm>
            <a:off x="4848797" y="4249699"/>
            <a:ext cx="249440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0F299C"/>
                </a:solidFill>
              </a:rPr>
              <a:t>PAPST</a:t>
            </a:r>
          </a:p>
          <a:p>
            <a:pPr marL="285750" indent="-285750">
              <a:buFontTx/>
              <a:buChar char="-"/>
            </a:pPr>
            <a:r>
              <a:rPr lang="en-IN" sz="1600" dirty="0">
                <a:solidFill>
                  <a:srgbClr val="0F299C"/>
                </a:solidFill>
              </a:rPr>
              <a:t>Single desktop tool</a:t>
            </a:r>
          </a:p>
          <a:p>
            <a:r>
              <a:rPr lang="en-IN" sz="1600" dirty="0">
                <a:solidFill>
                  <a:srgbClr val="0F299C"/>
                </a:solidFill>
              </a:rPr>
              <a:t>to combining abstract</a:t>
            </a:r>
          </a:p>
          <a:p>
            <a:r>
              <a:rPr lang="en-IN" sz="1600" dirty="0">
                <a:solidFill>
                  <a:srgbClr val="0F299C"/>
                </a:solidFill>
              </a:rPr>
              <a:t>math and intuitive physics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EC8CFAB-FD66-1349-C721-073A1F1988B0}"/>
              </a:ext>
            </a:extLst>
          </p:cNvPr>
          <p:cNvCxnSpPr>
            <a:cxnSpLocks/>
            <a:stCxn id="13" idx="2"/>
            <a:endCxn id="10" idx="0"/>
          </p:cNvCxnSpPr>
          <p:nvPr/>
        </p:nvCxnSpPr>
        <p:spPr>
          <a:xfrm>
            <a:off x="4085301" y="3018502"/>
            <a:ext cx="2010698" cy="9438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FDE4A32-9DD5-BB6D-8E6F-B4B3559DC54B}"/>
              </a:ext>
            </a:extLst>
          </p:cNvPr>
          <p:cNvCxnSpPr>
            <a:cxnSpLocks/>
            <a:stCxn id="15" idx="2"/>
            <a:endCxn id="10" idx="0"/>
          </p:cNvCxnSpPr>
          <p:nvPr/>
        </p:nvCxnSpPr>
        <p:spPr>
          <a:xfrm flipH="1">
            <a:off x="6095999" y="3018502"/>
            <a:ext cx="2010702" cy="9438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5089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4731"/>
    </mc:Choice>
    <mc:Fallback xmlns="">
      <p:transition spd="slow" advTm="9473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48658-9A59-85DF-EE9D-3C6EBAD52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6FA1B-808E-A1D7-C34B-53AA9DFD6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942" y="276636"/>
            <a:ext cx="11130115" cy="519778"/>
          </a:xfrm>
          <a:solidFill>
            <a:srgbClr val="0F299C"/>
          </a:solidFill>
        </p:spPr>
        <p:txBody>
          <a:bodyPr>
            <a:normAutofit/>
          </a:bodyPr>
          <a:lstStyle/>
          <a:p>
            <a:pPr algn="ctr"/>
            <a:r>
              <a:rPr lang="en-IN" sz="2400" dirty="0">
                <a:solidFill>
                  <a:schemeClr val="bg1"/>
                </a:solidFill>
              </a:rPr>
              <a:t>Objectives and Scope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777FCC-3B01-190D-67EF-9511E9913C91}"/>
              </a:ext>
            </a:extLst>
          </p:cNvPr>
          <p:cNvSpPr txBox="1"/>
          <p:nvPr/>
        </p:nvSpPr>
        <p:spPr>
          <a:xfrm>
            <a:off x="530941" y="1178212"/>
            <a:ext cx="11130115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dirty="0">
                <a:solidFill>
                  <a:schemeClr val="bg1"/>
                </a:solidFill>
                <a:highlight>
                  <a:srgbClr val="000000"/>
                </a:highlight>
              </a:rPr>
              <a:t>Objectives</a:t>
            </a:r>
          </a:p>
          <a:p>
            <a:endParaRPr lang="en-IN" sz="2600" dirty="0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marL="514350" indent="-514350">
              <a:buAutoNum type="arabicPeriod"/>
            </a:pPr>
            <a:r>
              <a:rPr lang="en-IN" sz="2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Unified Analytical Model</a:t>
            </a:r>
          </a:p>
          <a:p>
            <a:endParaRPr lang="en-IN" sz="2600" dirty="0">
              <a:solidFill>
                <a:srgbClr val="0F299C"/>
              </a:solidFill>
            </a:endParaRPr>
          </a:p>
          <a:p>
            <a:r>
              <a:rPr lang="en-IN" sz="2600" dirty="0"/>
              <a:t>Development of a multi-variable</a:t>
            </a:r>
          </a:p>
          <a:p>
            <a:r>
              <a:rPr lang="en-IN" sz="2600" dirty="0"/>
              <a:t>model that calculates various </a:t>
            </a:r>
          </a:p>
          <a:p>
            <a:r>
              <a:rPr lang="en-IN" sz="2600" dirty="0">
                <a:solidFill>
                  <a:srgbClr val="FF0000"/>
                </a:solidFill>
              </a:rPr>
              <a:t>static, </a:t>
            </a:r>
            <a:r>
              <a:rPr lang="en-IN" sz="2600" dirty="0">
                <a:solidFill>
                  <a:schemeClr val="accent6"/>
                </a:solidFill>
              </a:rPr>
              <a:t>kinematic</a:t>
            </a:r>
            <a:r>
              <a:rPr lang="en-IN" sz="2600" dirty="0">
                <a:solidFill>
                  <a:srgbClr val="FF0000"/>
                </a:solidFill>
              </a:rPr>
              <a:t> </a:t>
            </a:r>
            <a:r>
              <a:rPr lang="en-IN" sz="2600" dirty="0"/>
              <a:t>and</a:t>
            </a:r>
            <a:r>
              <a:rPr lang="en-IN" sz="2600" dirty="0">
                <a:solidFill>
                  <a:srgbClr val="FF0000"/>
                </a:solidFill>
              </a:rPr>
              <a:t> </a:t>
            </a:r>
            <a:r>
              <a:rPr lang="en-IN" sz="2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dynamic</a:t>
            </a:r>
          </a:p>
          <a:p>
            <a:r>
              <a:rPr lang="en-IN" sz="2600" dirty="0"/>
              <a:t>parameters.</a:t>
            </a:r>
          </a:p>
        </p:txBody>
      </p:sp>
      <p:pic>
        <p:nvPicPr>
          <p:cNvPr id="3" name="Picture 2" descr="Mechanical Energy Types and Conservation of Mechanical Energy - Physics  Class 11">
            <a:extLst>
              <a:ext uri="{FF2B5EF4-FFF2-40B4-BE49-F238E27FC236}">
                <a16:creationId xmlns:a16="http://schemas.microsoft.com/office/drawing/2014/main" id="{A64E0FED-FE04-880C-AC39-22528EB18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4729" y="3641782"/>
            <a:ext cx="2819149" cy="24622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A039E8-61A9-E198-41A6-3BE3E5739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729" y="796414"/>
            <a:ext cx="2812026" cy="2812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970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4731"/>
    </mc:Choice>
    <mc:Fallback xmlns="">
      <p:transition spd="slow" advTm="9473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29545-B55D-87F4-CE26-45333EF3E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94D1A-2E67-566C-5AF0-4A825795F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942" y="276636"/>
            <a:ext cx="11130115" cy="519778"/>
          </a:xfrm>
          <a:solidFill>
            <a:srgbClr val="0F299C"/>
          </a:solidFill>
        </p:spPr>
        <p:txBody>
          <a:bodyPr>
            <a:normAutofit/>
          </a:bodyPr>
          <a:lstStyle/>
          <a:p>
            <a:pPr algn="ctr"/>
            <a:r>
              <a:rPr lang="en-IN" sz="2400" dirty="0">
                <a:solidFill>
                  <a:schemeClr val="bg1"/>
                </a:solidFill>
              </a:rPr>
              <a:t>Objectives and Scope (Contd.)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1259FB-6CFD-C565-64A5-A4393144A890}"/>
              </a:ext>
            </a:extLst>
          </p:cNvPr>
          <p:cNvSpPr txBox="1"/>
          <p:nvPr/>
        </p:nvSpPr>
        <p:spPr>
          <a:xfrm>
            <a:off x="530941" y="1178212"/>
            <a:ext cx="11130115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2. Real-Time Physical Analysis</a:t>
            </a:r>
          </a:p>
          <a:p>
            <a:endParaRPr lang="en-IN" sz="2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IN" sz="2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Integrate, along with the simulation,</a:t>
            </a:r>
          </a:p>
          <a:p>
            <a:r>
              <a:rPr lang="en-IN" sz="2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 time scrubber (time slider)</a:t>
            </a:r>
          </a:p>
          <a:p>
            <a:r>
              <a:rPr lang="en-IN" sz="2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to cleanly study the behaviour of</a:t>
            </a:r>
          </a:p>
          <a:p>
            <a:r>
              <a:rPr lang="en-IN" sz="2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particle under observation up to</a:t>
            </a:r>
          </a:p>
          <a:p>
            <a:r>
              <a:rPr lang="en-IN" sz="2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an accuracy of </a:t>
            </a:r>
            <a:r>
              <a:rPr lang="en-IN" sz="2600" dirty="0">
                <a:solidFill>
                  <a:srgbClr val="FF0000"/>
                </a:solidFill>
              </a:rPr>
              <a:t>0.1 seconds</a:t>
            </a:r>
            <a:r>
              <a:rPr lang="en-IN" sz="2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71A4FB-9424-20E8-CF66-4D00E461DF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873" b="18512"/>
          <a:stretch>
            <a:fillRect/>
          </a:stretch>
        </p:blipFill>
        <p:spPr>
          <a:xfrm>
            <a:off x="6588637" y="1088966"/>
            <a:ext cx="4096531" cy="2893099"/>
          </a:xfrm>
          <a:prstGeom prst="rect">
            <a:avLst/>
          </a:prstGeom>
        </p:spPr>
      </p:pic>
      <p:pic>
        <p:nvPicPr>
          <p:cNvPr id="9" name="Picture 8" descr="19,206 Time Png Royalty-Free Images, Stock Photos &amp; Pictures | Shutterstock">
            <a:extLst>
              <a:ext uri="{FF2B5EF4-FFF2-40B4-BE49-F238E27FC236}">
                <a16:creationId xmlns:a16="http://schemas.microsoft.com/office/drawing/2014/main" id="{FA37CFC9-9CF8-8C7F-7800-84041EEFC5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249" b="24448"/>
          <a:stretch>
            <a:fillRect/>
          </a:stretch>
        </p:blipFill>
        <p:spPr>
          <a:xfrm>
            <a:off x="530941" y="3982065"/>
            <a:ext cx="10517064" cy="2320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018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4731"/>
    </mc:Choice>
    <mc:Fallback xmlns="">
      <p:transition spd="slow" advTm="9473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BA21A-BE9F-083B-261D-90FC02DCB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40333-498A-CDCF-69D9-2EA1B4BDE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942" y="276636"/>
            <a:ext cx="11130115" cy="519778"/>
          </a:xfrm>
          <a:solidFill>
            <a:srgbClr val="0F299C"/>
          </a:solidFill>
        </p:spPr>
        <p:txBody>
          <a:bodyPr>
            <a:normAutofit/>
          </a:bodyPr>
          <a:lstStyle/>
          <a:p>
            <a:pPr algn="ctr"/>
            <a:r>
              <a:rPr lang="en-IN" sz="2400" dirty="0">
                <a:solidFill>
                  <a:schemeClr val="bg1"/>
                </a:solidFill>
              </a:rPr>
              <a:t>Objectives and Scope (Contd.)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37823E-AA16-A80E-EB9D-4629C3B17AB9}"/>
              </a:ext>
            </a:extLst>
          </p:cNvPr>
          <p:cNvSpPr txBox="1"/>
          <p:nvPr/>
        </p:nvSpPr>
        <p:spPr>
          <a:xfrm>
            <a:off x="530941" y="1178212"/>
            <a:ext cx="11130115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3. Conceptual Aid</a:t>
            </a:r>
          </a:p>
          <a:p>
            <a:endParaRPr lang="en-IN" sz="2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IN" sz="2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To add an (</a:t>
            </a:r>
            <a:r>
              <a:rPr lang="en-IN" sz="2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</a:t>
            </a:r>
            <a:r>
              <a:rPr lang="en-IN" sz="2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 button next to calculated</a:t>
            </a:r>
          </a:p>
          <a:p>
            <a:r>
              <a:rPr lang="en-IN" sz="2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parameters, which uses </a:t>
            </a:r>
            <a:r>
              <a:rPr lang="en-IN" sz="2600" dirty="0">
                <a:solidFill>
                  <a:srgbClr val="00B050"/>
                </a:solidFill>
              </a:rPr>
              <a:t>formal definitions</a:t>
            </a:r>
            <a:r>
              <a:rPr lang="en-IN" sz="2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</a:t>
            </a:r>
          </a:p>
          <a:p>
            <a:r>
              <a:rPr lang="en-IN" sz="2600" dirty="0">
                <a:solidFill>
                  <a:srgbClr val="0070C0"/>
                </a:solidFill>
              </a:rPr>
              <a:t>formulas</a:t>
            </a:r>
            <a:r>
              <a:rPr lang="en-IN" sz="2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and </a:t>
            </a:r>
            <a:r>
              <a:rPr lang="en-IN" sz="2600" dirty="0">
                <a:solidFill>
                  <a:srgbClr val="7030A0"/>
                </a:solidFill>
              </a:rPr>
              <a:t>analogies</a:t>
            </a:r>
            <a:r>
              <a:rPr lang="en-IN" sz="2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to further strengthen</a:t>
            </a:r>
          </a:p>
          <a:p>
            <a:r>
              <a:rPr lang="en-IN" sz="2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conceptual depth of the user.</a:t>
            </a:r>
          </a:p>
        </p:txBody>
      </p:sp>
      <p:pic>
        <p:nvPicPr>
          <p:cNvPr id="5" name="Picture 4" descr="color icon for definition 26540022 Vector Art at Vecteezy">
            <a:extLst>
              <a:ext uri="{FF2B5EF4-FFF2-40B4-BE49-F238E27FC236}">
                <a16:creationId xmlns:a16="http://schemas.microsoft.com/office/drawing/2014/main" id="{39585B80-F091-60FE-BE02-A0080DC0B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8006" y="1364254"/>
            <a:ext cx="2492444" cy="2064746"/>
          </a:xfrm>
          <a:prstGeom prst="rect">
            <a:avLst/>
          </a:prstGeom>
        </p:spPr>
      </p:pic>
      <p:pic>
        <p:nvPicPr>
          <p:cNvPr id="8" name="Picture 7" descr="Analogy concept icon Stock Vector Image &amp; Art - Alamy">
            <a:extLst>
              <a:ext uri="{FF2B5EF4-FFF2-40B4-BE49-F238E27FC236}">
                <a16:creationId xmlns:a16="http://schemas.microsoft.com/office/drawing/2014/main" id="{B9A0F46F-3C64-4EF0-F2E1-4722CEF8D8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9113"/>
          <a:stretch>
            <a:fillRect/>
          </a:stretch>
        </p:blipFill>
        <p:spPr>
          <a:xfrm>
            <a:off x="8406876" y="3615042"/>
            <a:ext cx="2914704" cy="24929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21E2902-4013-62D9-B3A4-E86D17D8C3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5945" r="70093"/>
          <a:stretch>
            <a:fillRect/>
          </a:stretch>
        </p:blipFill>
        <p:spPr>
          <a:xfrm>
            <a:off x="727289" y="4053000"/>
            <a:ext cx="1430563" cy="199255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EC07E5A-DC69-6AB9-CBCD-0AD81C278A6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500" t="25945" r="33350"/>
          <a:stretch>
            <a:fillRect/>
          </a:stretch>
        </p:blipFill>
        <p:spPr>
          <a:xfrm>
            <a:off x="2944467" y="4053000"/>
            <a:ext cx="1681316" cy="199255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638CD0D-FAB3-72E9-AF24-4E8992702FB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6701" t="25945"/>
          <a:stretch>
            <a:fillRect/>
          </a:stretch>
        </p:blipFill>
        <p:spPr>
          <a:xfrm>
            <a:off x="5486398" y="4053000"/>
            <a:ext cx="1592826" cy="199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827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4731"/>
    </mc:Choice>
    <mc:Fallback xmlns="">
      <p:transition spd="slow" advTm="9473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83631-474D-9B64-8292-E5871271C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DA380-BB71-21D9-8E9C-FF5E6AD0B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942" y="276636"/>
            <a:ext cx="11130115" cy="519778"/>
          </a:xfrm>
          <a:solidFill>
            <a:srgbClr val="0F299C"/>
          </a:solidFill>
        </p:spPr>
        <p:txBody>
          <a:bodyPr>
            <a:normAutofit/>
          </a:bodyPr>
          <a:lstStyle/>
          <a:p>
            <a:pPr algn="ctr"/>
            <a:r>
              <a:rPr lang="en-IN" sz="2400" dirty="0">
                <a:solidFill>
                  <a:schemeClr val="bg1"/>
                </a:solidFill>
              </a:rPr>
              <a:t>Methods and Proposed Solution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023C48-F3C8-6C87-B83F-711EC18B87B7}"/>
              </a:ext>
            </a:extLst>
          </p:cNvPr>
          <p:cNvSpPr txBox="1"/>
          <p:nvPr/>
        </p:nvSpPr>
        <p:spPr>
          <a:xfrm>
            <a:off x="524640" y="1335528"/>
            <a:ext cx="1113011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dirty="0">
                <a:solidFill>
                  <a:schemeClr val="bg1"/>
                </a:solidFill>
                <a:highlight>
                  <a:srgbClr val="000000"/>
                </a:highlight>
              </a:rPr>
              <a:t>Resources, Modules and Language Used:</a:t>
            </a:r>
            <a:r>
              <a:rPr lang="en-IN" sz="2600" dirty="0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3" name="Picture 2" descr="File:Python-logo-notext.svg - Wikimedia Commons">
            <a:extLst>
              <a:ext uri="{FF2B5EF4-FFF2-40B4-BE49-F238E27FC236}">
                <a16:creationId xmlns:a16="http://schemas.microsoft.com/office/drawing/2014/main" id="{25279BDB-EEB9-4F68-BB88-E55B129BF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653" y="2549396"/>
            <a:ext cx="2472814" cy="2472814"/>
          </a:xfrm>
          <a:prstGeom prst="rect">
            <a:avLst/>
          </a:prstGeom>
        </p:spPr>
      </p:pic>
      <p:pic>
        <p:nvPicPr>
          <p:cNvPr id="4" name="Picture 3" descr="numpy · PyPI">
            <a:extLst>
              <a:ext uri="{FF2B5EF4-FFF2-40B4-BE49-F238E27FC236}">
                <a16:creationId xmlns:a16="http://schemas.microsoft.com/office/drawing/2014/main" id="{A035EB67-DF53-9538-C358-3A51E96A2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7073" y="2367085"/>
            <a:ext cx="6336940" cy="28374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AC8D333-9B98-4D1E-465E-DC1C1901B1DD}"/>
              </a:ext>
            </a:extLst>
          </p:cNvPr>
          <p:cNvSpPr txBox="1"/>
          <p:nvPr/>
        </p:nvSpPr>
        <p:spPr>
          <a:xfrm>
            <a:off x="3183629" y="3277971"/>
            <a:ext cx="244592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 err="1"/>
              <a:t>Tkinter</a:t>
            </a:r>
            <a:endParaRPr lang="en-IN" sz="6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08CA1F-4534-3530-3F53-928A6D849427}"/>
              </a:ext>
            </a:extLst>
          </p:cNvPr>
          <p:cNvSpPr txBox="1"/>
          <p:nvPr/>
        </p:nvSpPr>
        <p:spPr>
          <a:xfrm>
            <a:off x="3341685" y="4014403"/>
            <a:ext cx="2129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/>
              <a:t>FigureCanvasTkAgg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0445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4731"/>
    </mc:Choice>
    <mc:Fallback xmlns="">
      <p:transition spd="slow" advTm="9473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5F59A-3CF7-9605-4370-CDA4F3DE9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49852-FC26-0B64-9F6A-E9E1E2422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942" y="276636"/>
            <a:ext cx="11130115" cy="519778"/>
          </a:xfrm>
          <a:solidFill>
            <a:srgbClr val="0F299C"/>
          </a:solidFill>
        </p:spPr>
        <p:txBody>
          <a:bodyPr>
            <a:normAutofit/>
          </a:bodyPr>
          <a:lstStyle/>
          <a:p>
            <a:pPr algn="ctr"/>
            <a:r>
              <a:rPr lang="en-IN" sz="2400" dirty="0">
                <a:solidFill>
                  <a:schemeClr val="bg1"/>
                </a:solidFill>
              </a:rPr>
              <a:t>Methods and Proposed Solution (Contd.)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4D96E2-D360-3B60-CC0C-765809ED36CF}"/>
              </a:ext>
            </a:extLst>
          </p:cNvPr>
          <p:cNvSpPr txBox="1"/>
          <p:nvPr/>
        </p:nvSpPr>
        <p:spPr>
          <a:xfrm>
            <a:off x="524640" y="1335528"/>
            <a:ext cx="1113011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dirty="0">
                <a:solidFill>
                  <a:schemeClr val="bg1"/>
                </a:solidFill>
                <a:highlight>
                  <a:srgbClr val="000000"/>
                </a:highlight>
              </a:rPr>
              <a:t>Software Architecture:</a:t>
            </a:r>
            <a:r>
              <a:rPr lang="en-IN" sz="26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30974A-B04F-6C53-33B8-4C455E5CCED3}"/>
              </a:ext>
            </a:extLst>
          </p:cNvPr>
          <p:cNvSpPr/>
          <p:nvPr/>
        </p:nvSpPr>
        <p:spPr>
          <a:xfrm>
            <a:off x="1399710" y="2188283"/>
            <a:ext cx="9379974" cy="1240717"/>
          </a:xfrm>
          <a:prstGeom prst="rect">
            <a:avLst/>
          </a:prstGeom>
          <a:solidFill>
            <a:srgbClr val="0F299C">
              <a:alpha val="20000"/>
            </a:srgbClr>
          </a:solidFill>
          <a:ln>
            <a:solidFill>
              <a:srgbClr val="0F29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AD2284-2B10-A92D-5C48-378A9DC58D0F}"/>
              </a:ext>
            </a:extLst>
          </p:cNvPr>
          <p:cNvSpPr/>
          <p:nvPr/>
        </p:nvSpPr>
        <p:spPr>
          <a:xfrm>
            <a:off x="1399710" y="3543282"/>
            <a:ext cx="9379974" cy="1240717"/>
          </a:xfrm>
          <a:prstGeom prst="rect">
            <a:avLst/>
          </a:prstGeom>
          <a:solidFill>
            <a:srgbClr val="0F299C">
              <a:alpha val="20000"/>
            </a:srgbClr>
          </a:solidFill>
          <a:ln>
            <a:solidFill>
              <a:srgbClr val="0F29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FADF4D-F72A-38D1-9A8D-9CBE0E9EA6F4}"/>
              </a:ext>
            </a:extLst>
          </p:cNvPr>
          <p:cNvSpPr/>
          <p:nvPr/>
        </p:nvSpPr>
        <p:spPr>
          <a:xfrm>
            <a:off x="1399710" y="4902113"/>
            <a:ext cx="9379974" cy="1240717"/>
          </a:xfrm>
          <a:prstGeom prst="rect">
            <a:avLst/>
          </a:prstGeom>
          <a:solidFill>
            <a:srgbClr val="0F299C">
              <a:alpha val="20000"/>
            </a:srgbClr>
          </a:solidFill>
          <a:ln>
            <a:solidFill>
              <a:srgbClr val="0F29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2CA42E-9571-3AFB-94B9-1859094DF9CB}"/>
              </a:ext>
            </a:extLst>
          </p:cNvPr>
          <p:cNvSpPr txBox="1"/>
          <p:nvPr/>
        </p:nvSpPr>
        <p:spPr>
          <a:xfrm>
            <a:off x="3075923" y="2346976"/>
            <a:ext cx="60275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 u="sng" dirty="0">
                <a:solidFill>
                  <a:srgbClr val="0F299C"/>
                </a:solidFill>
              </a:rPr>
              <a:t>LAYER 1: USER INTERFACE (</a:t>
            </a:r>
            <a:r>
              <a:rPr lang="en-IN" b="1" u="sng" dirty="0" err="1">
                <a:solidFill>
                  <a:srgbClr val="0F299C"/>
                </a:solidFill>
              </a:rPr>
              <a:t>Tkinter</a:t>
            </a:r>
            <a:r>
              <a:rPr lang="en-IN" b="1" u="sng" dirty="0">
                <a:solidFill>
                  <a:srgbClr val="0F299C"/>
                </a:solidFill>
              </a:rPr>
              <a:t>)</a:t>
            </a:r>
          </a:p>
          <a:p>
            <a:pPr algn="ctr"/>
            <a:r>
              <a:rPr lang="en-IN" dirty="0">
                <a:solidFill>
                  <a:srgbClr val="0F299C"/>
                </a:solidFill>
              </a:rPr>
              <a:t>Case dependent, modular multi-window navigation system</a:t>
            </a:r>
          </a:p>
          <a:p>
            <a:pPr algn="ctr"/>
            <a:r>
              <a:rPr lang="en-IN" dirty="0">
                <a:solidFill>
                  <a:srgbClr val="0F299C"/>
                </a:solidFill>
              </a:rPr>
              <a:t>Validation Handlers and </a:t>
            </a:r>
            <a:r>
              <a:rPr lang="en-IN" i="1" dirty="0">
                <a:solidFill>
                  <a:srgbClr val="0F299C"/>
                </a:solidFill>
              </a:rPr>
              <a:t>conceptual popups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35C8CB-B82B-7514-A87D-74FE559FB44E}"/>
              </a:ext>
            </a:extLst>
          </p:cNvPr>
          <p:cNvSpPr txBox="1"/>
          <p:nvPr/>
        </p:nvSpPr>
        <p:spPr>
          <a:xfrm>
            <a:off x="1849176" y="3701975"/>
            <a:ext cx="848104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 u="sng" dirty="0">
                <a:solidFill>
                  <a:srgbClr val="0F299C"/>
                </a:solidFill>
              </a:rPr>
              <a:t>LAYER 2: NUMERICAL PHYSICS MODULE (</a:t>
            </a:r>
            <a:r>
              <a:rPr lang="en-IN" b="1" u="sng" dirty="0" err="1">
                <a:solidFill>
                  <a:srgbClr val="0F299C"/>
                </a:solidFill>
              </a:rPr>
              <a:t>Numpy</a:t>
            </a:r>
            <a:r>
              <a:rPr lang="en-IN" b="1" u="sng" dirty="0">
                <a:solidFill>
                  <a:srgbClr val="0F299C"/>
                </a:solidFill>
              </a:rPr>
              <a:t>)</a:t>
            </a:r>
          </a:p>
          <a:p>
            <a:pPr algn="ctr"/>
            <a:r>
              <a:rPr lang="en-IN" dirty="0">
                <a:solidFill>
                  <a:srgbClr val="0F299C"/>
                </a:solidFill>
              </a:rPr>
              <a:t>Vector arithmetic for </a:t>
            </a:r>
            <a:r>
              <a:rPr lang="en-IN" i="1" dirty="0">
                <a:solidFill>
                  <a:srgbClr val="0F299C"/>
                </a:solidFill>
              </a:rPr>
              <a:t>kinematics</a:t>
            </a:r>
            <a:r>
              <a:rPr lang="en-IN" dirty="0">
                <a:solidFill>
                  <a:srgbClr val="0F299C"/>
                </a:solidFill>
              </a:rPr>
              <a:t>, </a:t>
            </a:r>
            <a:r>
              <a:rPr lang="en-IN" i="1" dirty="0">
                <a:solidFill>
                  <a:srgbClr val="0F299C"/>
                </a:solidFill>
              </a:rPr>
              <a:t>dynamics</a:t>
            </a:r>
            <a:r>
              <a:rPr lang="en-IN" dirty="0">
                <a:solidFill>
                  <a:srgbClr val="0F299C"/>
                </a:solidFill>
              </a:rPr>
              <a:t> and conservation of energy for </a:t>
            </a:r>
            <a:r>
              <a:rPr lang="en-IN" i="1" dirty="0">
                <a:solidFill>
                  <a:srgbClr val="0F299C"/>
                </a:solidFill>
              </a:rPr>
              <a:t>collisions</a:t>
            </a:r>
          </a:p>
          <a:p>
            <a:pPr algn="ctr"/>
            <a:r>
              <a:rPr lang="en-IN" dirty="0">
                <a:solidFill>
                  <a:srgbClr val="0F299C"/>
                </a:solidFill>
              </a:rPr>
              <a:t>Bohr Model for </a:t>
            </a:r>
            <a:r>
              <a:rPr lang="en-IN" i="1" dirty="0">
                <a:solidFill>
                  <a:srgbClr val="0F299C"/>
                </a:solidFill>
              </a:rPr>
              <a:t>Electron</a:t>
            </a:r>
            <a:r>
              <a:rPr lang="en-IN" dirty="0">
                <a:solidFill>
                  <a:srgbClr val="0F299C"/>
                </a:solidFill>
              </a:rPr>
              <a:t> and Photoelectric effect for </a:t>
            </a:r>
            <a:r>
              <a:rPr lang="en-IN" i="1" dirty="0">
                <a:solidFill>
                  <a:srgbClr val="0F299C"/>
                </a:solidFill>
              </a:rPr>
              <a:t>Photon</a:t>
            </a:r>
            <a:r>
              <a:rPr lang="en-IN" dirty="0">
                <a:solidFill>
                  <a:srgbClr val="0F299C"/>
                </a:solidFill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BD86BB-435D-EE0F-B343-CCB1A7CA33CD}"/>
              </a:ext>
            </a:extLst>
          </p:cNvPr>
          <p:cNvSpPr txBox="1"/>
          <p:nvPr/>
        </p:nvSpPr>
        <p:spPr>
          <a:xfrm>
            <a:off x="3144466" y="5060806"/>
            <a:ext cx="58904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 u="sng" dirty="0">
                <a:solidFill>
                  <a:srgbClr val="0F299C"/>
                </a:solidFill>
              </a:rPr>
              <a:t>LAYER 3: SIMULATION MODULE (Matplotlib)</a:t>
            </a:r>
          </a:p>
          <a:p>
            <a:pPr algn="ctr"/>
            <a:r>
              <a:rPr lang="en-IN" i="1" dirty="0">
                <a:solidFill>
                  <a:srgbClr val="0F299C"/>
                </a:solidFill>
              </a:rPr>
              <a:t>Simulation</a:t>
            </a:r>
            <a:r>
              <a:rPr lang="en-IN" dirty="0">
                <a:solidFill>
                  <a:srgbClr val="0F299C"/>
                </a:solidFill>
              </a:rPr>
              <a:t> rendering using </a:t>
            </a:r>
            <a:r>
              <a:rPr lang="en-IN" dirty="0" err="1">
                <a:solidFill>
                  <a:srgbClr val="0F299C"/>
                </a:solidFill>
              </a:rPr>
              <a:t>FigureCanvasTkAgg</a:t>
            </a:r>
            <a:endParaRPr lang="en-IN" dirty="0">
              <a:solidFill>
                <a:srgbClr val="0F299C"/>
              </a:solidFill>
            </a:endParaRPr>
          </a:p>
          <a:p>
            <a:pPr algn="ctr"/>
            <a:r>
              <a:rPr lang="en-IN" i="1" dirty="0">
                <a:solidFill>
                  <a:srgbClr val="0F299C"/>
                </a:solidFill>
              </a:rPr>
              <a:t>Time slider </a:t>
            </a:r>
            <a:r>
              <a:rPr lang="en-IN" dirty="0">
                <a:solidFill>
                  <a:srgbClr val="0F299C"/>
                </a:solidFill>
              </a:rPr>
              <a:t>based intuitive simulations to visualize motion</a:t>
            </a:r>
          </a:p>
        </p:txBody>
      </p:sp>
    </p:spTree>
    <p:extLst>
      <p:ext uri="{BB962C8B-B14F-4D97-AF65-F5344CB8AC3E}">
        <p14:creationId xmlns:p14="http://schemas.microsoft.com/office/powerpoint/2010/main" val="2858854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4731"/>
    </mc:Choice>
    <mc:Fallback xmlns="">
      <p:transition spd="slow" advTm="9473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8C15B-8B5B-7AF4-F50E-E17162FA4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266D8-4120-BF45-F65E-14DB80832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942" y="276636"/>
            <a:ext cx="11130115" cy="519778"/>
          </a:xfrm>
          <a:solidFill>
            <a:srgbClr val="0F299C"/>
          </a:solidFill>
        </p:spPr>
        <p:txBody>
          <a:bodyPr>
            <a:normAutofit/>
          </a:bodyPr>
          <a:lstStyle/>
          <a:p>
            <a:pPr algn="ctr"/>
            <a:r>
              <a:rPr lang="en-IN" sz="2400" dirty="0">
                <a:solidFill>
                  <a:schemeClr val="bg1"/>
                </a:solidFill>
              </a:rPr>
              <a:t>Methods and Proposed Solution (Contd.)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87D67D-F8B3-5FD7-B8D6-BF8CCD64D417}"/>
              </a:ext>
            </a:extLst>
          </p:cNvPr>
          <p:cNvSpPr txBox="1"/>
          <p:nvPr/>
        </p:nvSpPr>
        <p:spPr>
          <a:xfrm>
            <a:off x="524640" y="1335528"/>
            <a:ext cx="1113011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dirty="0">
                <a:solidFill>
                  <a:schemeClr val="bg1"/>
                </a:solidFill>
                <a:highlight>
                  <a:srgbClr val="000000"/>
                </a:highlight>
              </a:rPr>
              <a:t>Mathematical Module</a:t>
            </a:r>
            <a:r>
              <a:rPr lang="en-IN" sz="2600" dirty="0">
                <a:highlight>
                  <a:srgbClr val="000000"/>
                </a:highlight>
              </a:rPr>
              <a:t>:</a:t>
            </a:r>
            <a:r>
              <a:rPr lang="en-IN" sz="2600" dirty="0"/>
              <a:t> </a:t>
            </a:r>
          </a:p>
          <a:p>
            <a:endParaRPr lang="en-IN" sz="2600" dirty="0"/>
          </a:p>
          <a:p>
            <a:pPr marL="514350" indent="-514350">
              <a:buAutoNum type="arabicPeriod"/>
            </a:pPr>
            <a:r>
              <a:rPr lang="en-IN" sz="2600" dirty="0"/>
              <a:t>Macroscopic Particle</a:t>
            </a:r>
          </a:p>
          <a:p>
            <a:endParaRPr lang="en-IN" sz="2600" dirty="0"/>
          </a:p>
          <a:p>
            <a:pPr marL="457200" indent="-457200">
              <a:buFontTx/>
              <a:buChar char="-"/>
            </a:pPr>
            <a:r>
              <a:rPr lang="en-IN" sz="2600" dirty="0"/>
              <a:t>Input Data (Initial Position, Velocity, Acceleration and Mass)</a:t>
            </a:r>
          </a:p>
          <a:p>
            <a:pPr marL="457200" indent="-457200">
              <a:buFontTx/>
              <a:buChar char="-"/>
            </a:pPr>
            <a:r>
              <a:rPr lang="en-IN" sz="2600" dirty="0"/>
              <a:t>Standard Kinematical Equations</a:t>
            </a:r>
          </a:p>
          <a:p>
            <a:pPr marL="457200" indent="-457200">
              <a:buFontTx/>
              <a:buChar char="-"/>
            </a:pPr>
            <a:r>
              <a:rPr lang="en-IN" sz="2600" dirty="0"/>
              <a:t>Classical Mechanical Equations</a:t>
            </a:r>
          </a:p>
          <a:p>
            <a:pPr marL="457200" indent="-457200">
              <a:buFontTx/>
              <a:buChar char="-"/>
            </a:pPr>
            <a:r>
              <a:rPr lang="en-IN" sz="2600" dirty="0"/>
              <a:t>Equations of Energy and Conservation of Energy</a:t>
            </a:r>
          </a:p>
          <a:p>
            <a:pPr marL="457200" indent="-457200">
              <a:buFontTx/>
              <a:buChar char="-"/>
            </a:pPr>
            <a:r>
              <a:rPr lang="en-IN" sz="2600" dirty="0"/>
              <a:t>Definitions and Analogies</a:t>
            </a:r>
          </a:p>
        </p:txBody>
      </p:sp>
    </p:spTree>
    <p:extLst>
      <p:ext uri="{BB962C8B-B14F-4D97-AF65-F5344CB8AC3E}">
        <p14:creationId xmlns:p14="http://schemas.microsoft.com/office/powerpoint/2010/main" val="3720079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4731"/>
    </mc:Choice>
    <mc:Fallback xmlns="">
      <p:transition spd="slow" advTm="9473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CC2B0-18EF-B46A-90FA-A189062FC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73311-7B52-13C4-B1DB-DD63CFCD3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942" y="276636"/>
            <a:ext cx="11130115" cy="519778"/>
          </a:xfrm>
          <a:solidFill>
            <a:srgbClr val="0F299C"/>
          </a:solidFill>
        </p:spPr>
        <p:txBody>
          <a:bodyPr>
            <a:normAutofit/>
          </a:bodyPr>
          <a:lstStyle/>
          <a:p>
            <a:pPr algn="ctr"/>
            <a:r>
              <a:rPr lang="en-IN" sz="2400" dirty="0">
                <a:solidFill>
                  <a:schemeClr val="bg1"/>
                </a:solidFill>
              </a:rPr>
              <a:t>Methods and Proposed Solution (Contd.)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EADCF8-7539-6B96-35EC-C3D9C260E5D2}"/>
              </a:ext>
            </a:extLst>
          </p:cNvPr>
          <p:cNvSpPr txBox="1"/>
          <p:nvPr/>
        </p:nvSpPr>
        <p:spPr>
          <a:xfrm>
            <a:off x="524640" y="1335528"/>
            <a:ext cx="1113011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dirty="0">
                <a:solidFill>
                  <a:schemeClr val="bg1"/>
                </a:solidFill>
                <a:highlight>
                  <a:srgbClr val="000000"/>
                </a:highlight>
              </a:rPr>
              <a:t>Mathematical Module:</a:t>
            </a:r>
            <a:r>
              <a:rPr lang="en-IN" sz="2600" dirty="0">
                <a:solidFill>
                  <a:schemeClr val="bg1"/>
                </a:solidFill>
              </a:rPr>
              <a:t> </a:t>
            </a:r>
          </a:p>
          <a:p>
            <a:endParaRPr lang="en-IN" sz="2600" dirty="0">
              <a:solidFill>
                <a:srgbClr val="0F299C"/>
              </a:solidFill>
            </a:endParaRPr>
          </a:p>
          <a:p>
            <a:r>
              <a:rPr lang="en-IN" sz="2600" dirty="0"/>
              <a:t>2.    Microscopic Particle</a:t>
            </a:r>
          </a:p>
          <a:p>
            <a:endParaRPr lang="en-IN" sz="2600" dirty="0"/>
          </a:p>
          <a:p>
            <a:pPr marL="457200" indent="-457200">
              <a:buFontTx/>
              <a:buChar char="-"/>
            </a:pPr>
            <a:r>
              <a:rPr lang="en-IN" sz="2600" dirty="0"/>
              <a:t>Input Data (Radii, Energy state, Velocity and Atomic Number OR</a:t>
            </a:r>
          </a:p>
          <a:p>
            <a:r>
              <a:rPr lang="en-IN" sz="2600" dirty="0"/>
              <a:t>       Photon Energy and Work Function)</a:t>
            </a:r>
          </a:p>
          <a:p>
            <a:pPr marL="457200" indent="-457200">
              <a:buFontTx/>
              <a:buChar char="-"/>
            </a:pPr>
            <a:r>
              <a:rPr lang="en-IN" sz="2600" dirty="0"/>
              <a:t>Bohr’s Model of the atom and it’s equations</a:t>
            </a:r>
          </a:p>
          <a:p>
            <a:pPr marL="457200" indent="-457200">
              <a:buFontTx/>
              <a:buChar char="-"/>
            </a:pPr>
            <a:r>
              <a:rPr lang="en-IN" sz="2600" dirty="0"/>
              <a:t>Einstein’s study of the photoelectric effect and derived equations</a:t>
            </a:r>
          </a:p>
          <a:p>
            <a:pPr marL="457200" indent="-457200">
              <a:buFontTx/>
              <a:buChar char="-"/>
            </a:pPr>
            <a:r>
              <a:rPr lang="en-IN" sz="2600" dirty="0"/>
              <a:t>Definitions and Analogies</a:t>
            </a:r>
          </a:p>
        </p:txBody>
      </p:sp>
    </p:spTree>
    <p:extLst>
      <p:ext uri="{BB962C8B-B14F-4D97-AF65-F5344CB8AC3E}">
        <p14:creationId xmlns:p14="http://schemas.microsoft.com/office/powerpoint/2010/main" val="468762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4731"/>
    </mc:Choice>
    <mc:Fallback xmlns="">
      <p:transition spd="slow" advTm="9473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4251E-65FD-E6F4-DF9B-B40B466AD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DC5FD-568F-E111-CA50-68C8EC007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942" y="276636"/>
            <a:ext cx="11130115" cy="519778"/>
          </a:xfrm>
          <a:solidFill>
            <a:srgbClr val="0F299C"/>
          </a:solidFill>
        </p:spPr>
        <p:txBody>
          <a:bodyPr>
            <a:normAutofit/>
          </a:bodyPr>
          <a:lstStyle/>
          <a:p>
            <a:pPr algn="ctr"/>
            <a:r>
              <a:rPr lang="en-IN" sz="2400" dirty="0">
                <a:solidFill>
                  <a:schemeClr val="bg1"/>
                </a:solidFill>
              </a:rPr>
              <a:t>Methods and Proposed Solution (Contd.)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885AA1-E078-05EF-3CCD-71C3AEA69E64}"/>
              </a:ext>
            </a:extLst>
          </p:cNvPr>
          <p:cNvSpPr txBox="1"/>
          <p:nvPr/>
        </p:nvSpPr>
        <p:spPr>
          <a:xfrm>
            <a:off x="524640" y="1335528"/>
            <a:ext cx="11130115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dirty="0">
                <a:solidFill>
                  <a:schemeClr val="bg1"/>
                </a:solidFill>
                <a:highlight>
                  <a:srgbClr val="000000"/>
                </a:highlight>
              </a:rPr>
              <a:t>GUI Workflow:</a:t>
            </a:r>
            <a:r>
              <a:rPr lang="en-IN" sz="2600" dirty="0">
                <a:solidFill>
                  <a:schemeClr val="bg1"/>
                </a:solidFill>
              </a:rPr>
              <a:t> </a:t>
            </a:r>
          </a:p>
          <a:p>
            <a:endParaRPr lang="en-IN" sz="2600" dirty="0">
              <a:solidFill>
                <a:schemeClr val="bg1"/>
              </a:solidFill>
            </a:endParaRPr>
          </a:p>
          <a:p>
            <a:r>
              <a:rPr lang="en-IN" sz="2600" dirty="0">
                <a:solidFill>
                  <a:srgbClr val="0F299C"/>
                </a:solidFill>
              </a:rPr>
              <a:t>==========Particle Analysis Physics Simulation Tool==========</a:t>
            </a:r>
          </a:p>
          <a:p>
            <a:r>
              <a:rPr lang="en-IN" sz="2600" dirty="0">
                <a:solidFill>
                  <a:srgbClr val="0F299C"/>
                </a:solidFill>
              </a:rPr>
              <a:t>Macroscopic Objects</a:t>
            </a:r>
          </a:p>
          <a:p>
            <a:r>
              <a:rPr lang="en-IN" sz="2600" dirty="0">
                <a:solidFill>
                  <a:srgbClr val="0F299C"/>
                </a:solidFill>
              </a:rPr>
              <a:t>∟ Particle in 1 dimension</a:t>
            </a:r>
          </a:p>
          <a:p>
            <a:r>
              <a:rPr lang="en-IN" sz="2600" dirty="0">
                <a:solidFill>
                  <a:srgbClr val="0F299C"/>
                </a:solidFill>
              </a:rPr>
              <a:t>∟ Particle in 2 dimensions</a:t>
            </a:r>
          </a:p>
          <a:p>
            <a:r>
              <a:rPr lang="en-IN" sz="2600" dirty="0">
                <a:solidFill>
                  <a:srgbClr val="0F299C"/>
                </a:solidFill>
              </a:rPr>
              <a:t>∟ Particle in 3 dimensions</a:t>
            </a:r>
          </a:p>
          <a:p>
            <a:r>
              <a:rPr lang="en-IN" sz="2600" dirty="0">
                <a:solidFill>
                  <a:srgbClr val="0F299C"/>
                </a:solidFill>
              </a:rPr>
              <a:t>∟ 1 dimensional collisions</a:t>
            </a:r>
          </a:p>
          <a:p>
            <a:r>
              <a:rPr lang="en-IN" sz="2600" dirty="0">
                <a:solidFill>
                  <a:srgbClr val="0F299C"/>
                </a:solidFill>
              </a:rPr>
              <a:t>Microscopic Objects</a:t>
            </a:r>
          </a:p>
          <a:p>
            <a:r>
              <a:rPr lang="en-IN" sz="2600" dirty="0">
                <a:solidFill>
                  <a:srgbClr val="0F299C"/>
                </a:solidFill>
              </a:rPr>
              <a:t>∟ Electron (using Bohr's atomic model, in H-like atoms)</a:t>
            </a:r>
          </a:p>
          <a:p>
            <a:r>
              <a:rPr lang="en-IN" sz="2600" dirty="0">
                <a:solidFill>
                  <a:srgbClr val="0F299C"/>
                </a:solidFill>
              </a:rPr>
              <a:t>∟ Photons (study of the photoelectric effect)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E42BF7-EE55-0F21-2058-A53BDD21974F}"/>
              </a:ext>
            </a:extLst>
          </p:cNvPr>
          <p:cNvSpPr/>
          <p:nvPr/>
        </p:nvSpPr>
        <p:spPr>
          <a:xfrm>
            <a:off x="530942" y="2072754"/>
            <a:ext cx="11123813" cy="3756312"/>
          </a:xfrm>
          <a:prstGeom prst="rect">
            <a:avLst/>
          </a:prstGeom>
          <a:solidFill>
            <a:srgbClr val="0F299C">
              <a:alpha val="20000"/>
            </a:srgbClr>
          </a:solidFill>
          <a:ln>
            <a:solidFill>
              <a:srgbClr val="0F29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9603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4731"/>
    </mc:Choice>
    <mc:Fallback xmlns="">
      <p:transition spd="slow" advTm="9473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76715-9E24-3F8E-4E3F-46BB70602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844AA-9A5D-A39F-A3B9-F4E3C3B43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942" y="276636"/>
            <a:ext cx="11130115" cy="519778"/>
          </a:xfrm>
          <a:solidFill>
            <a:srgbClr val="0F299C"/>
          </a:solidFill>
        </p:spPr>
        <p:txBody>
          <a:bodyPr>
            <a:normAutofit/>
          </a:bodyPr>
          <a:lstStyle/>
          <a:p>
            <a:pPr algn="ctr"/>
            <a:r>
              <a:rPr lang="en-IN" sz="2400" dirty="0">
                <a:solidFill>
                  <a:schemeClr val="bg1"/>
                </a:solidFill>
              </a:rPr>
              <a:t>Methods and Proposed Solution (Contd.)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3ECB6B-0239-90E1-44D0-1D5DCC3606BB}"/>
              </a:ext>
            </a:extLst>
          </p:cNvPr>
          <p:cNvSpPr txBox="1"/>
          <p:nvPr/>
        </p:nvSpPr>
        <p:spPr>
          <a:xfrm>
            <a:off x="524640" y="1335528"/>
            <a:ext cx="1113011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dirty="0">
                <a:solidFill>
                  <a:schemeClr val="bg1"/>
                </a:solidFill>
                <a:highlight>
                  <a:srgbClr val="000000"/>
                </a:highlight>
              </a:rPr>
              <a:t>Early Prototype Screenshots:</a:t>
            </a:r>
            <a:r>
              <a:rPr lang="en-IN" sz="2600" dirty="0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826851-E002-78F9-8F00-BDF826D52E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640" y="2146810"/>
            <a:ext cx="4975585" cy="3375662"/>
          </a:xfrm>
          <a:prstGeom prst="rect">
            <a:avLst/>
          </a:prstGeom>
          <a:ln>
            <a:solidFill>
              <a:srgbClr val="0F299C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6F23072-7A1D-94DB-90CF-ECA9954386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1777" y="2146810"/>
            <a:ext cx="3548036" cy="3375662"/>
          </a:xfrm>
          <a:prstGeom prst="rect">
            <a:avLst/>
          </a:prstGeom>
          <a:ln>
            <a:solidFill>
              <a:srgbClr val="0F299C"/>
            </a:solidFill>
          </a:ln>
        </p:spPr>
      </p:pic>
    </p:spTree>
    <p:extLst>
      <p:ext uri="{BB962C8B-B14F-4D97-AF65-F5344CB8AC3E}">
        <p14:creationId xmlns:p14="http://schemas.microsoft.com/office/powerpoint/2010/main" val="1494816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4731"/>
    </mc:Choice>
    <mc:Fallback xmlns="">
      <p:transition spd="slow" advTm="9473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AB594-4407-DDC9-430F-EE4F8C172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A646-5D3C-B197-001E-530C03EB0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942" y="276636"/>
            <a:ext cx="11130115" cy="519778"/>
          </a:xfrm>
          <a:solidFill>
            <a:srgbClr val="0F299C"/>
          </a:solidFill>
        </p:spPr>
        <p:txBody>
          <a:bodyPr>
            <a:normAutofit/>
          </a:bodyPr>
          <a:lstStyle/>
          <a:p>
            <a:pPr algn="ctr"/>
            <a:r>
              <a:rPr lang="en-IN" sz="2400" dirty="0">
                <a:solidFill>
                  <a:schemeClr val="bg1"/>
                </a:solidFill>
              </a:rPr>
              <a:t>Methods and Proposed Solution (Contd.)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21421E2-67E8-CBF2-C619-0A1870427F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942" y="1433266"/>
            <a:ext cx="6492803" cy="3558848"/>
          </a:xfrm>
          <a:prstGeom prst="rect">
            <a:avLst/>
          </a:prstGeom>
          <a:ln>
            <a:solidFill>
              <a:srgbClr val="0F299C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BB3B1FF-C044-D1CE-BBFF-A49D0DABFE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7382" y="2100073"/>
            <a:ext cx="3863675" cy="2225233"/>
          </a:xfrm>
          <a:prstGeom prst="rect">
            <a:avLst/>
          </a:prstGeom>
          <a:ln>
            <a:solidFill>
              <a:srgbClr val="0F299C"/>
            </a:solidFill>
          </a:ln>
        </p:spPr>
      </p:pic>
    </p:spTree>
    <p:extLst>
      <p:ext uri="{BB962C8B-B14F-4D97-AF65-F5344CB8AC3E}">
        <p14:creationId xmlns:p14="http://schemas.microsoft.com/office/powerpoint/2010/main" val="1247387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4731"/>
    </mc:Choice>
    <mc:Fallback xmlns="">
      <p:transition spd="slow" advTm="9473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9D0B1-83BD-AB94-4331-5EFC5A0A2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1742B-5D6D-CDB7-3BCF-5862D2528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942" y="276636"/>
            <a:ext cx="11130115" cy="519778"/>
          </a:xfrm>
          <a:solidFill>
            <a:srgbClr val="0F299C"/>
          </a:solidFill>
        </p:spPr>
        <p:txBody>
          <a:bodyPr>
            <a:normAutofit/>
          </a:bodyPr>
          <a:lstStyle/>
          <a:p>
            <a:pPr algn="ctr"/>
            <a:r>
              <a:rPr lang="en-IN" sz="2400" dirty="0">
                <a:solidFill>
                  <a:schemeClr val="bg1"/>
                </a:solidFill>
              </a:rPr>
              <a:t>Methods and Proposed Solution (Contd.)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344C0A-2EF5-669B-2E93-1AAB7C52C1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3710" y="1265048"/>
            <a:ext cx="4844577" cy="4327903"/>
          </a:xfrm>
          <a:prstGeom prst="rect">
            <a:avLst/>
          </a:prstGeom>
          <a:ln>
            <a:solidFill>
              <a:srgbClr val="0F299C"/>
            </a:solidFill>
          </a:ln>
        </p:spPr>
      </p:pic>
    </p:spTree>
    <p:extLst>
      <p:ext uri="{BB962C8B-B14F-4D97-AF65-F5344CB8AC3E}">
        <p14:creationId xmlns:p14="http://schemas.microsoft.com/office/powerpoint/2010/main" val="788976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4731"/>
    </mc:Choice>
    <mc:Fallback xmlns="">
      <p:transition spd="slow" advTm="9473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7EA77-C8F4-D7E4-9D09-2324C6810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B9D8A-727F-54E0-9717-28BCC3660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942" y="276636"/>
            <a:ext cx="11130115" cy="519778"/>
          </a:xfrm>
          <a:solidFill>
            <a:srgbClr val="0F299C"/>
          </a:solidFill>
        </p:spPr>
        <p:txBody>
          <a:bodyPr>
            <a:normAutofit/>
          </a:bodyPr>
          <a:lstStyle/>
          <a:p>
            <a:pPr algn="ctr"/>
            <a:r>
              <a:rPr lang="en-IN" sz="2400" dirty="0">
                <a:solidFill>
                  <a:schemeClr val="bg1"/>
                </a:solidFill>
              </a:rPr>
              <a:t>Project Link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963B95-7380-7C65-B1B5-DD370067A2D4}"/>
              </a:ext>
            </a:extLst>
          </p:cNvPr>
          <p:cNvSpPr txBox="1"/>
          <p:nvPr/>
        </p:nvSpPr>
        <p:spPr>
          <a:xfrm>
            <a:off x="945262" y="3136612"/>
            <a:ext cx="103014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 err="1"/>
              <a:t>Github</a:t>
            </a:r>
            <a:r>
              <a:rPr lang="en-IN" sz="3200" dirty="0"/>
              <a:t> Link: </a:t>
            </a:r>
            <a:r>
              <a:rPr lang="en-IN" sz="3200" dirty="0">
                <a:solidFill>
                  <a:srgbClr val="0F299C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https://github.com/maanassrivastava/PAPST</a:t>
            </a:r>
            <a:endParaRPr lang="en-IN" sz="3200" dirty="0">
              <a:solidFill>
                <a:srgbClr val="0F299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1168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4731"/>
    </mc:Choice>
    <mc:Fallback xmlns="">
      <p:transition spd="slow" advTm="9473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CF4B3-A674-CCC8-292E-06EA9BDA4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C3946-3E95-9E26-169A-347728837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942" y="276636"/>
            <a:ext cx="11130115" cy="519778"/>
          </a:xfrm>
          <a:solidFill>
            <a:srgbClr val="0F299C"/>
          </a:solidFill>
        </p:spPr>
        <p:txBody>
          <a:bodyPr>
            <a:normAutofit/>
          </a:bodyPr>
          <a:lstStyle/>
          <a:p>
            <a:pPr algn="ctr"/>
            <a:r>
              <a:rPr lang="en-IN" sz="2400" dirty="0">
                <a:solidFill>
                  <a:schemeClr val="bg1"/>
                </a:solidFill>
              </a:rPr>
              <a:t>End of Presentation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CFD58B-D58A-02E6-181D-A5C3B1A59132}"/>
              </a:ext>
            </a:extLst>
          </p:cNvPr>
          <p:cNvSpPr txBox="1"/>
          <p:nvPr/>
        </p:nvSpPr>
        <p:spPr>
          <a:xfrm>
            <a:off x="3125987" y="2644170"/>
            <a:ext cx="594002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9600" dirty="0">
                <a:solidFill>
                  <a:srgbClr val="0F299C"/>
                </a:solidFill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27913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4731"/>
    </mc:Choice>
    <mc:Fallback xmlns="">
      <p:transition spd="slow" advTm="94731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2960</TotalTime>
  <Words>758</Words>
  <Application>Microsoft Office PowerPoint</Application>
  <PresentationFormat>Widescreen</PresentationFormat>
  <Paragraphs>174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Office Theme</vt:lpstr>
      <vt:lpstr>PowerPoint Presentation</vt:lpstr>
      <vt:lpstr>Project Introduction</vt:lpstr>
      <vt:lpstr>Problem Identification</vt:lpstr>
      <vt:lpstr>Problem Identification (Contd.)</vt:lpstr>
      <vt:lpstr>Problem Identification (Contd.)</vt:lpstr>
      <vt:lpstr>Problem Identification (Contd.)</vt:lpstr>
      <vt:lpstr>Problem Identification (Contd.)</vt:lpstr>
      <vt:lpstr>Literary Survey</vt:lpstr>
      <vt:lpstr>Literary Survey (Contd.)</vt:lpstr>
      <vt:lpstr>Literary Survey (Contd.)</vt:lpstr>
      <vt:lpstr>Literary Survey (Contd.)</vt:lpstr>
      <vt:lpstr>Objectives and Scope</vt:lpstr>
      <vt:lpstr>Objectives and Scope (Contd.)</vt:lpstr>
      <vt:lpstr>Objectives and Scope (Contd.)</vt:lpstr>
      <vt:lpstr>Methods and Proposed Solution</vt:lpstr>
      <vt:lpstr>Methods and Proposed Solution (Contd.)</vt:lpstr>
      <vt:lpstr>Methods and Proposed Solution (Contd.)</vt:lpstr>
      <vt:lpstr>Methods and Proposed Solution (Contd.)</vt:lpstr>
      <vt:lpstr>Methods and Proposed Solution (Contd.)</vt:lpstr>
      <vt:lpstr>Methods and Proposed Solution (Contd.)</vt:lpstr>
      <vt:lpstr>Methods and Proposed Solution (Contd.)</vt:lpstr>
      <vt:lpstr>Methods and Proposed Solution (Contd.)</vt:lpstr>
      <vt:lpstr>Project Link</vt:lpstr>
      <vt:lpstr>End of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Maanas Srivastava</dc:creator>
  <cp:lastModifiedBy>Maanas Srivastava</cp:lastModifiedBy>
  <cp:revision>12</cp:revision>
  <dcterms:created xsi:type="dcterms:W3CDTF">2025-11-07T07:43:45Z</dcterms:created>
  <dcterms:modified xsi:type="dcterms:W3CDTF">2026-08-25T17:07:11Z</dcterms:modified>
</cp:coreProperties>
</file>